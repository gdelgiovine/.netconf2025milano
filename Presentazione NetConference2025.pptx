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9" r:id="rId9"/>
    <p:sldId id="262" r:id="rId10"/>
    <p:sldId id="263" r:id="rId11"/>
    <p:sldId id="266" r:id="rId12"/>
    <p:sldId id="267" r:id="rId13"/>
    <p:sldId id="293" r:id="rId14"/>
    <p:sldId id="264" r:id="rId15"/>
    <p:sldId id="294" r:id="rId16"/>
    <p:sldId id="265" r:id="rId17"/>
    <p:sldId id="286" r:id="rId18"/>
    <p:sldId id="287" r:id="rId19"/>
    <p:sldId id="290" r:id="rId20"/>
    <p:sldId id="291" r:id="rId21"/>
    <p:sldId id="292" r:id="rId22"/>
    <p:sldId id="268" r:id="rId23"/>
    <p:sldId id="269" r:id="rId24"/>
    <p:sldId id="270" r:id="rId25"/>
    <p:sldId id="271" r:id="rId26"/>
    <p:sldId id="272" r:id="rId27"/>
    <p:sldId id="281" r:id="rId28"/>
    <p:sldId id="283" r:id="rId29"/>
    <p:sldId id="284" r:id="rId30"/>
    <p:sldId id="280" r:id="rId31"/>
    <p:sldId id="285" r:id="rId32"/>
    <p:sldId id="295" r:id="rId33"/>
    <p:sldId id="288" r:id="rId34"/>
    <p:sldId id="289" r:id="rId3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0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9:02:18.4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4558 5725 0,'-2'225'0,"-3"-1"0,-4 0 0,-3-1 0,-4-2 0,-3-2 0,-4-1 0,-3-3 0,-3-2 0,-3-4 0,-4-3 0,-3-4 0,-4-4 0,-2-4 0,-3-4 0,-3-6 0,-3-5 0,-3-5 0,-2-6 0,-4-6 0,-1-6 0,-3-7 0,-2-6 0,-2-7 0,-3-8 0,-1-7 0,-2-7 0,-2-8 0,-2-8 0,-1-8 0,-1-8 0,-2-8 0,0-9 0,-2-8 0,0-9 0,-1-8 0,-1-10 0,0-8 0,-1-8 0,1-10 0,0-8 0,-1-10 0,1-8 0,0-8 0,1-10 0,1-8 0,0-9 0,2-8 0,0-9 0,2-8 0,1-8 0,1-8 0,2-8 0,2-8 0,2-7 0,1-7 0,3-8 0,2-7 0,2-6 0,3-7 0,1-6 0,4-6 0,2-6 0,3-5 0,3-5 0,3-6 0,3-4 0,2-4 0,4-4 0,3-4 0,4-3 0,3-4 0,3-2 0,3-3 0,4-1 0,3-2 0,4-2 0,3-1 0,4 0 0,3-1 0,4 0 0,3 1 0,4 0 0,3 1 0,4 2 0,3 2 0,4 1 0,3 3 0,3 2 0,3 4 0,4 3 0,3 4 0,4 4 0,2 4 0,3 4 0,3 6 0,3 5 0,3 5 0,2 6 0,4 6 0,1 6 0,3 7 0,2 6 0,2 7 0,3 8 0,1 7 0,2 7 0,2 8 0,2 8 0,1 8 0,1 8 0,2 8 0,0 9 0,2 8 0,0 9 0,1 8 0,1 10 0,0 8 0,1 8 0,-1 10 0,0 8 0,1 10 0,-1 8 0,0 8 0,-1 10 0,-1 8 0,0 9 0,-2 8 0,0 9 0,-2 8 0,-1 8 0,-1 8 0,-2 8 0,-2 8 0,-2 7 0,-1 7 0,-3 8 0,-2 7 0,-2 6 0,-3 7 0,-1 6 0,-4 6 0,-2 6 0,-3 5 0,-3 5 0,-3 6 0,-3 4 0,-2 4 0,-4 4 0,-3 4 0,-4 3 0,-3 4 0,-3 2 0,-3 3 0,-4 1 0,-3 2 0,-4 2 0,-3 1 0,-4 0 0,-3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D1F1AA-D794-272E-B384-9E5ED562B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C98B2DB-207A-2F2D-09B3-51C138F8A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523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DF59F8-9895-E85E-8F79-8FFDA792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4FBCD3-0064-FF07-8693-65134FC1E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07270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63E022-0995-B1AF-8A6B-F012AC43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4601E5-BBFE-F648-D1C1-030A9800A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0067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FF5563-94B2-9027-245E-CB4FA709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C2B30E-C657-98B7-3F5F-2EC6DA9F5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51AAFD-CF5B-C864-9DCB-FEA24F8D7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1396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0D95E5-9FD9-0BF2-EAD5-2DBE905C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723A02-65A1-28A2-DAFD-294A07E5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AD0659-F5B6-69B7-72F1-1862C08ED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C44418C-1B61-2838-D9A7-03BCAF80D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F12F379-E290-92A0-C475-3238DAF39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5133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07F6E7-964C-FF51-A94B-95E2FA3B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661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3E976B-D863-F546-630B-10CDA107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7E8E9E-462E-4A0B-909C-830D79486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54C11F9-9F8F-DBB8-DC33-4EDDC3443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5189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0FC012-96AF-2C47-AEFC-9E457AC1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E575355-3C8A-C8BD-DC65-824A22B99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03A84EB-67E1-36F6-CAA3-078CBDD45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6024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4CA5AF-EC3B-E4D9-4DB7-581B3A0B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7880D6-C38F-7473-FE47-206BF4B32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25007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DF64A8E-DA58-89ED-A131-70B91E87D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2E715F6-5B33-93BE-E0CD-50A238DB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1322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0E5489-2B3B-03F1-FF53-2F05CF2E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345936-4E0C-3D2F-7135-C1609778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B5BD617-26EF-E72E-E09F-F92A1A9B71C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460631" y="6356349"/>
            <a:ext cx="1102942" cy="36512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51F0D53-32E8-1F23-75F1-428FBFFA5E2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200" y="6356348"/>
            <a:ext cx="365125" cy="365125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607CA8-3F4A-EE71-1382-9C197A66CA85}"/>
              </a:ext>
            </a:extLst>
          </p:cNvPr>
          <p:cNvSpPr txBox="1">
            <a:spLocks/>
          </p:cNvSpPr>
          <p:nvPr userDrawn="1"/>
        </p:nvSpPr>
        <p:spPr>
          <a:xfrm>
            <a:off x="4563573" y="6220301"/>
            <a:ext cx="4563173" cy="545148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60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L'altro modo di sviluppare applicazioni Web e </a:t>
            </a:r>
            <a:r>
              <a:rPr lang="it-IT" b="1" dirty="0" err="1"/>
              <a:t>Multidevice</a:t>
            </a:r>
            <a:r>
              <a:rPr lang="it-IT" b="1" dirty="0"/>
              <a:t> nel mondo .NET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D61CCA02-369F-0F17-4E37-E65DD74F526F}"/>
              </a:ext>
            </a:extLst>
          </p:cNvPr>
          <p:cNvSpPr txBox="1">
            <a:spLocks/>
          </p:cNvSpPr>
          <p:nvPr userDrawn="1"/>
        </p:nvSpPr>
        <p:spPr>
          <a:xfrm>
            <a:off x="1263159" y="6336280"/>
            <a:ext cx="1686525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Conference 2025 </a:t>
            </a:r>
            <a:br>
              <a:rPr lang="it-IT" dirty="0"/>
            </a:br>
            <a:r>
              <a:rPr lang="it-IT" dirty="0"/>
              <a:t>Milano 28/11/2025</a:t>
            </a:r>
          </a:p>
        </p:txBody>
      </p:sp>
      <p:sp>
        <p:nvSpPr>
          <p:cNvPr id="12" name="Segnaposto numero diapositiva 5">
            <a:extLst>
              <a:ext uri="{FF2B5EF4-FFF2-40B4-BE49-F238E27FC236}">
                <a16:creationId xmlns:a16="http://schemas.microsoft.com/office/drawing/2014/main" id="{68C6032B-D67A-988F-6AC6-0F23BE164BAF}"/>
              </a:ext>
            </a:extLst>
          </p:cNvPr>
          <p:cNvSpPr txBox="1">
            <a:spLocks/>
          </p:cNvSpPr>
          <p:nvPr userDrawn="1"/>
        </p:nvSpPr>
        <p:spPr>
          <a:xfrm>
            <a:off x="10673752" y="6288186"/>
            <a:ext cx="685800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B012B17-6DF3-439E-B594-EB828BE109F5}" type="slidenum">
              <a:rPr lang="it-IT" smtClean="0"/>
              <a:pPr algn="r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7222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wisej.com/migratio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sej.com/modernization-whitepaper-dino-esposit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isej.com/case-studie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dewithwisej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uget.org/packages/Wisej-3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8A9489-8C47-7F07-45B5-10D69212B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4400" dirty="0"/>
              <a:t>L’altro modo di sviluppare applicazioni Web e </a:t>
            </a:r>
            <a:r>
              <a:rPr lang="it-IT" sz="4400" dirty="0" err="1"/>
              <a:t>Multidevice</a:t>
            </a:r>
            <a:r>
              <a:rPr lang="it-IT" sz="4400" dirty="0"/>
              <a:t> nel mondo .NET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E6AF2D-8D8B-332B-1E3E-BACEAF71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1064"/>
            <a:ext cx="9144000" cy="1316736"/>
          </a:xfrm>
        </p:spPr>
        <p:txBody>
          <a:bodyPr/>
          <a:lstStyle/>
          <a:p>
            <a:r>
              <a:rPr lang="it-IT" sz="2800" dirty="0"/>
              <a:t>           Gabriele Del Giovine</a:t>
            </a:r>
          </a:p>
          <a:p>
            <a:r>
              <a:rPr lang="it-IT" sz="1400" dirty="0"/>
              <a:t> https://www.gabrieledelgiovine.it </a:t>
            </a:r>
          </a:p>
          <a:p>
            <a:r>
              <a:rPr lang="it-IT" sz="1400" dirty="0"/>
              <a:t> gabriele@gabrieledelgiovine.it</a:t>
            </a:r>
          </a:p>
        </p:txBody>
      </p:sp>
      <p:pic>
        <p:nvPicPr>
          <p:cNvPr id="4" name="Immagine 3" descr="Immagine che contiene Elementi grafici, Carattere, schermata, nero&#10;&#10;Il contenuto generato dall'IA potrebbe non essere corretto.">
            <a:extLst>
              <a:ext uri="{FF2B5EF4-FFF2-40B4-BE49-F238E27FC236}">
                <a16:creationId xmlns:a16="http://schemas.microsoft.com/office/drawing/2014/main" id="{2B6BCA5A-E0CF-BDA5-60BF-15CF563F7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32" y="833343"/>
            <a:ext cx="3552535" cy="118126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25805EC-9919-072D-75A8-84D935A8E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72" y="4023360"/>
            <a:ext cx="584910" cy="38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2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A6604B37-49C3-15BE-B5C2-F93D4011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83" y="590550"/>
            <a:ext cx="1095703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1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AC3A-9B32-50AE-1936-B63B62AA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DFDA428A-4E65-25D5-E2BE-D6FA2D217216}"/>
              </a:ext>
            </a:extLst>
          </p:cNvPr>
          <p:cNvGrpSpPr/>
          <p:nvPr/>
        </p:nvGrpSpPr>
        <p:grpSpPr>
          <a:xfrm>
            <a:off x="905256" y="914400"/>
            <a:ext cx="10050779" cy="3977640"/>
            <a:chOff x="2961837" y="1728728"/>
            <a:chExt cx="6268325" cy="230519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35532281-49D6-D995-5CFB-3F5A55628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1837" y="2824078"/>
              <a:ext cx="6268325" cy="1209844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BF3DE246-4AC6-6841-5443-3393737AD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2787" y="1728728"/>
              <a:ext cx="4477375" cy="847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075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Elementi grafici, Policromia, grafica, viola&#10;&#10;Il contenuto generato dall'IA potrebbe non essere corretto.">
            <a:extLst>
              <a:ext uri="{FF2B5EF4-FFF2-40B4-BE49-F238E27FC236}">
                <a16:creationId xmlns:a16="http://schemas.microsoft.com/office/drawing/2014/main" id="{3F7BB6F4-2C6E-B0D8-484B-332266A3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" y="395660"/>
            <a:ext cx="1423591" cy="162223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46CFA4-34EA-AB13-5779-055E33493F1F}"/>
              </a:ext>
            </a:extLst>
          </p:cNvPr>
          <p:cNvSpPr txBox="1"/>
          <p:nvPr/>
        </p:nvSpPr>
        <p:spPr>
          <a:xfrm>
            <a:off x="2560117" y="578540"/>
            <a:ext cx="93180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7030A0"/>
                </a:solidFill>
              </a:rPr>
              <a:t>Sviluppo</a:t>
            </a:r>
            <a:r>
              <a:rPr lang="en-US" sz="4000" b="1" dirty="0"/>
              <a:t> </a:t>
            </a:r>
            <a:br>
              <a:rPr lang="en-US" sz="4000" b="1" dirty="0"/>
            </a:br>
            <a:r>
              <a:rPr lang="en-US" sz="4000" b="1" dirty="0"/>
              <a:t>Veloce</a:t>
            </a:r>
            <a:endParaRPr lang="en-US" sz="4000" b="1" dirty="0">
              <a:effectLst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A9601F-F870-ADF3-BDEC-3026F79896FD}"/>
              </a:ext>
            </a:extLst>
          </p:cNvPr>
          <p:cNvSpPr txBox="1"/>
          <p:nvPr/>
        </p:nvSpPr>
        <p:spPr>
          <a:xfrm>
            <a:off x="859537" y="2261196"/>
            <a:ext cx="105613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3200" b="1" dirty="0">
                <a:solidFill>
                  <a:srgbClr val="7030A0"/>
                </a:solidFill>
              </a:rPr>
              <a:t>Wisej.NET</a:t>
            </a:r>
            <a:r>
              <a:rPr lang="it-IT" sz="2800" b="1" dirty="0">
                <a:solidFill>
                  <a:srgbClr val="7030A0"/>
                </a:solidFill>
              </a:rPr>
              <a:t> è progettato per creare, eseguire il debug, distribuire e gestire applicazioni web di qualsiasi complessità tramite </a:t>
            </a:r>
            <a:r>
              <a:rPr lang="it-IT" sz="3600" b="1" dirty="0">
                <a:solidFill>
                  <a:srgbClr val="7030A0"/>
                </a:solidFill>
              </a:rPr>
              <a:t>Visual Studio </a:t>
            </a:r>
            <a:r>
              <a:rPr lang="en-US" sz="2800" b="1" dirty="0">
                <a:solidFill>
                  <a:srgbClr val="4E4E54"/>
                </a:solidFill>
              </a:rPr>
              <a:t>in </a:t>
            </a:r>
            <a:r>
              <a:rPr lang="en-US" sz="2800" b="1" dirty="0" err="1">
                <a:solidFill>
                  <a:srgbClr val="4E4E54"/>
                </a:solidFill>
              </a:rPr>
              <a:t>una</a:t>
            </a:r>
            <a:r>
              <a:rPr lang="en-US" sz="2800" b="1" dirty="0">
                <a:solidFill>
                  <a:srgbClr val="4E4E54"/>
                </a:solidFill>
              </a:rPr>
              <a:t> </a:t>
            </a:r>
            <a:r>
              <a:rPr lang="en-US" sz="2800" b="1" dirty="0" err="1">
                <a:solidFill>
                  <a:srgbClr val="4E4E54"/>
                </a:solidFill>
              </a:rPr>
              <a:t>frazione</a:t>
            </a:r>
            <a:r>
              <a:rPr lang="en-US" sz="2800" b="1" dirty="0">
                <a:solidFill>
                  <a:srgbClr val="4E4E54"/>
                </a:solidFill>
              </a:rPr>
              <a:t> del tempo rispetto ai </a:t>
            </a:r>
            <a:r>
              <a:rPr lang="en-US" sz="2800" b="1" dirty="0" err="1">
                <a:solidFill>
                  <a:srgbClr val="4E4E54"/>
                </a:solidFill>
              </a:rPr>
              <a:t>metodi</a:t>
            </a:r>
            <a:r>
              <a:rPr lang="en-US" sz="2800" b="1" dirty="0">
                <a:solidFill>
                  <a:srgbClr val="4E4E54"/>
                </a:solidFill>
              </a:rPr>
              <a:t> </a:t>
            </a:r>
            <a:r>
              <a:rPr lang="en-US" sz="2800" b="1" dirty="0" err="1">
                <a:solidFill>
                  <a:srgbClr val="4E4E54"/>
                </a:solidFill>
              </a:rPr>
              <a:t>tradizionali</a:t>
            </a:r>
            <a:r>
              <a:rPr lang="en-US" sz="2800" b="1" dirty="0">
                <a:solidFill>
                  <a:srgbClr val="4E4E54"/>
                </a:solidFill>
              </a:rPr>
              <a:t> ASP.NET/MVC, .NET Blazor o framework/</a:t>
            </a:r>
            <a:r>
              <a:rPr lang="en-US" sz="2800" b="1" dirty="0" err="1">
                <a:solidFill>
                  <a:srgbClr val="4E4E54"/>
                </a:solidFill>
              </a:rPr>
              <a:t>librerie</a:t>
            </a:r>
            <a:r>
              <a:rPr lang="en-US" sz="2800" b="1" dirty="0">
                <a:solidFill>
                  <a:srgbClr val="4E4E54"/>
                </a:solidFill>
              </a:rPr>
              <a:t> JS come Angular/React e </a:t>
            </a:r>
            <a:r>
              <a:rPr lang="en-US" sz="2800" b="1" dirty="0" err="1">
                <a:solidFill>
                  <a:srgbClr val="4E4E54"/>
                </a:solidFill>
              </a:rPr>
              <a:t>simili</a:t>
            </a:r>
            <a:r>
              <a:rPr lang="en-US" sz="2800" b="1" dirty="0">
                <a:solidFill>
                  <a:srgbClr val="4E4E54"/>
                </a:solidFill>
              </a:rPr>
              <a:t>.</a:t>
            </a:r>
            <a:endParaRPr lang="it-IT" sz="2800" b="1" dirty="0">
              <a:solidFill>
                <a:srgbClr val="7030A0"/>
              </a:solidFill>
            </a:endParaRPr>
          </a:p>
          <a:p>
            <a:pPr>
              <a:buNone/>
            </a:pPr>
            <a:endParaRPr lang="it-IT" b="1" dirty="0">
              <a:solidFill>
                <a:srgbClr val="7030A0"/>
              </a:solidFill>
            </a:endParaRPr>
          </a:p>
          <a:p>
            <a:r>
              <a:rPr lang="it-IT" sz="1400" dirty="0"/>
              <a:t>È un framework altamente specializzato per applicazioni web in tempo reale; non è uno strumento generico per pagine web o siti web tradizionali. </a:t>
            </a:r>
          </a:p>
          <a:p>
            <a:endParaRPr lang="it-IT" sz="1400" dirty="0"/>
          </a:p>
          <a:p>
            <a:r>
              <a:rPr lang="it-IT" sz="1400" dirty="0"/>
              <a:t>Gli sviluppatori possono concentrarsi sui propri progetti senza preoccuparsi di HTML, gestione dello stato, servizi </a:t>
            </a:r>
            <a:r>
              <a:rPr lang="it-IT" sz="1400" dirty="0" err="1"/>
              <a:t>backend</a:t>
            </a:r>
            <a:r>
              <a:rPr lang="it-IT" sz="1400" dirty="0"/>
              <a:t>, </a:t>
            </a:r>
            <a:r>
              <a:rPr lang="it-IT" sz="1400" dirty="0" err="1"/>
              <a:t>callback</a:t>
            </a:r>
            <a:r>
              <a:rPr lang="it-IT" sz="1400" dirty="0"/>
              <a:t>, pannelli Ajax, sincronizzazione, DOM, CSS, JavaScript, sicurezza, autenticazione, concorrenza e altri dettagli tecnici.</a:t>
            </a:r>
          </a:p>
          <a:p>
            <a:pPr>
              <a:buNone/>
            </a:pPr>
            <a:endParaRPr lang="en-US" b="0" dirty="0">
              <a:solidFill>
                <a:srgbClr val="4E4E5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961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162B-4E47-B195-F3F5-8A95FA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AFC3AD6-703D-DD07-E310-C1EF54FCFBA8}"/>
              </a:ext>
            </a:extLst>
          </p:cNvPr>
          <p:cNvSpPr txBox="1"/>
          <p:nvPr/>
        </p:nvSpPr>
        <p:spPr>
          <a:xfrm>
            <a:off x="2527696" y="574775"/>
            <a:ext cx="81601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323238"/>
                </a:solidFill>
                <a:effectLst/>
              </a:rPr>
              <a:t>Curva di </a:t>
            </a:r>
            <a:r>
              <a:rPr lang="it-IT" sz="4000" b="1" dirty="0">
                <a:solidFill>
                  <a:srgbClr val="323238"/>
                </a:solidFill>
              </a:rPr>
              <a:t>A</a:t>
            </a:r>
            <a:r>
              <a:rPr lang="it-IT" sz="4000" b="1" dirty="0">
                <a:solidFill>
                  <a:srgbClr val="323238"/>
                </a:solidFill>
                <a:effectLst/>
              </a:rPr>
              <a:t>pprendimento </a:t>
            </a:r>
            <a:br>
              <a:rPr lang="it-IT" sz="4000" b="1" dirty="0">
                <a:solidFill>
                  <a:srgbClr val="323238"/>
                </a:solidFill>
                <a:effectLst/>
              </a:rPr>
            </a:br>
            <a:r>
              <a:rPr lang="it-IT" sz="4000" b="1" dirty="0">
                <a:solidFill>
                  <a:srgbClr val="8C2CD1"/>
                </a:solidFill>
              </a:rPr>
              <a:t>Minima</a:t>
            </a:r>
            <a:endParaRPr lang="it-IT" sz="4000" b="1" dirty="0">
              <a:solidFill>
                <a:srgbClr val="323238"/>
              </a:solidFill>
              <a:effectLst/>
            </a:endParaRPr>
          </a:p>
        </p:txBody>
      </p:sp>
      <p:pic>
        <p:nvPicPr>
          <p:cNvPr id="3" name="Immagine 2" descr="Immagine che contiene Elementi grafici, Policromia, viola, grafica&#10;&#10;Il contenuto generato dall'IA potrebbe non essere corretto.">
            <a:extLst>
              <a:ext uri="{FF2B5EF4-FFF2-40B4-BE49-F238E27FC236}">
                <a16:creationId xmlns:a16="http://schemas.microsoft.com/office/drawing/2014/main" id="{E37C616C-C627-CFEF-0BC3-821F3971D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35" y="437237"/>
            <a:ext cx="1427910" cy="159851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B82FC6-3CC2-94E0-ABE6-9C126CE132E3}"/>
              </a:ext>
            </a:extLst>
          </p:cNvPr>
          <p:cNvSpPr txBox="1"/>
          <p:nvPr/>
        </p:nvSpPr>
        <p:spPr>
          <a:xfrm>
            <a:off x="863834" y="2505670"/>
            <a:ext cx="102644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800" b="1" dirty="0">
                <a:solidFill>
                  <a:srgbClr val="7030A0"/>
                </a:solidFill>
              </a:rPr>
              <a:t>Gli sviluppatori C# e VB.NET sono immediatamente produttivi, grazie a un ambiente e un paradigma di programmazione consolidati.</a:t>
            </a:r>
            <a:endParaRPr lang="en-US" sz="2800" b="1" dirty="0">
              <a:solidFill>
                <a:srgbClr val="7030A0"/>
              </a:solidFill>
              <a:effectLst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8A272F4-4DA6-3C2F-E7E8-2A3A61938E08}"/>
              </a:ext>
            </a:extLst>
          </p:cNvPr>
          <p:cNvSpPr txBox="1"/>
          <p:nvPr/>
        </p:nvSpPr>
        <p:spPr>
          <a:xfrm>
            <a:off x="863834" y="4064401"/>
            <a:ext cx="102644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I sistemi di composizione della UI dichiarativi richiedono un cambiamento drastico nell'architettura e nel paradigma di programmazione orientato agli oggetti, basato sui componenti e guidato dagli eventi, ai quali la maggior parte degli sviluppatori di applicazioni aziendali (LOB) è abituata. Wisej.NET elimina questo cambiamento riconducendo il paradigma di sviluppo a quello delle .NET Windows Forms migliorandolo ed integrandolo con il meglio del mondo JavaScript.</a:t>
            </a:r>
          </a:p>
        </p:txBody>
      </p:sp>
    </p:spTree>
    <p:extLst>
      <p:ext uri="{BB962C8B-B14F-4D97-AF65-F5344CB8AC3E}">
        <p14:creationId xmlns:p14="http://schemas.microsoft.com/office/powerpoint/2010/main" val="250371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135C1C-64A4-47F4-39E5-5891E5B8B856}"/>
              </a:ext>
            </a:extLst>
          </p:cNvPr>
          <p:cNvSpPr txBox="1"/>
          <p:nvPr/>
        </p:nvSpPr>
        <p:spPr>
          <a:xfrm>
            <a:off x="2372248" y="574037"/>
            <a:ext cx="81601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7030A0"/>
                </a:solidFill>
                <a:effectLst/>
              </a:rPr>
              <a:t>Architettura</a:t>
            </a:r>
            <a:r>
              <a:rPr lang="en-US" sz="4000" b="1" dirty="0">
                <a:solidFill>
                  <a:srgbClr val="7030A0"/>
                </a:solidFill>
                <a:effectLst/>
              </a:rPr>
              <a:t> </a:t>
            </a:r>
          </a:p>
          <a:p>
            <a:r>
              <a:rPr lang="en-US" sz="4000" b="1" dirty="0">
                <a:effectLst/>
              </a:rPr>
              <a:t>Chiara</a:t>
            </a:r>
          </a:p>
        </p:txBody>
      </p:sp>
      <p:pic>
        <p:nvPicPr>
          <p:cNvPr id="5" name="Immagine 4" descr="Immagine che contiene Elementi grafici, Policromia, viola, grafica&#10;&#10;Il contenuto generato dall'IA potrebbe non essere corretto.">
            <a:extLst>
              <a:ext uri="{FF2B5EF4-FFF2-40B4-BE49-F238E27FC236}">
                <a16:creationId xmlns:a16="http://schemas.microsoft.com/office/drawing/2014/main" id="{4B4B7D04-287C-E309-CB64-C9CAECC3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59" y="418949"/>
            <a:ext cx="1427910" cy="159851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76FC0CA-B34A-AA53-60CE-2795B3678010}"/>
              </a:ext>
            </a:extLst>
          </p:cNvPr>
          <p:cNvSpPr txBox="1"/>
          <p:nvPr/>
        </p:nvSpPr>
        <p:spPr>
          <a:xfrm>
            <a:off x="827259" y="1986689"/>
            <a:ext cx="103375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rgbClr val="8C2CD1"/>
                </a:solidFill>
              </a:rPr>
              <a:t>Architettura Applicativa CHIARA, Integrata, efficiente, separata. </a:t>
            </a:r>
            <a:r>
              <a:rPr lang="it-IT" sz="2400" b="1" dirty="0"/>
              <a:t>JavaScript, HTML e CSS vengono usati per fare quello per cui sono stati progettati e realizzati</a:t>
            </a:r>
            <a:r>
              <a:rPr lang="it-IT" sz="3200" b="1" dirty="0"/>
              <a:t>.</a:t>
            </a:r>
            <a:endParaRPr lang="it-IT" sz="3200" b="1" dirty="0">
              <a:solidFill>
                <a:srgbClr val="323238"/>
              </a:solidFill>
              <a:effectLst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5B93C2F-0C88-973E-245D-47D01758A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923" y="3251323"/>
            <a:ext cx="7987557" cy="303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60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AD787E-7C2A-BC0F-EACD-BC402718F8F0}"/>
              </a:ext>
            </a:extLst>
          </p:cNvPr>
          <p:cNvSpPr txBox="1"/>
          <p:nvPr/>
        </p:nvSpPr>
        <p:spPr>
          <a:xfrm>
            <a:off x="868721" y="1785254"/>
            <a:ext cx="104058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Wisej.NET non vi </a:t>
            </a:r>
            <a:r>
              <a:rPr lang="en-US" dirty="0" err="1"/>
              <a:t>limita</a:t>
            </a:r>
            <a:r>
              <a:rPr lang="en-US" dirty="0"/>
              <a:t> in </a:t>
            </a:r>
            <a:r>
              <a:rPr lang="en-US" dirty="0" err="1"/>
              <a:t>alcun</a:t>
            </a:r>
            <a:r>
              <a:rPr lang="en-US" dirty="0"/>
              <a:t> modo </a:t>
            </a:r>
            <a:r>
              <a:rPr lang="en-US" dirty="0" err="1"/>
              <a:t>riguardo</a:t>
            </a:r>
            <a:r>
              <a:rPr lang="en-US" dirty="0"/>
              <a:t> </a:t>
            </a:r>
            <a:r>
              <a:rPr lang="en-US" dirty="0" err="1"/>
              <a:t>all’architettura</a:t>
            </a:r>
            <a:r>
              <a:rPr lang="en-US" dirty="0"/>
              <a:t> software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per le </a:t>
            </a:r>
            <a:r>
              <a:rPr lang="en-US" dirty="0" err="1"/>
              <a:t>vostre</a:t>
            </a:r>
            <a:r>
              <a:rPr lang="en-US" dirty="0"/>
              <a:t> </a:t>
            </a:r>
            <a:r>
              <a:rPr lang="en-US" dirty="0" err="1"/>
              <a:t>applicazioni</a:t>
            </a:r>
            <a:r>
              <a:rPr lang="en-US" dirty="0"/>
              <a:t>, </a:t>
            </a:r>
            <a:r>
              <a:rPr lang="en-US" dirty="0" err="1"/>
              <a:t>rimanendo</a:t>
            </a:r>
            <a:r>
              <a:rPr lang="en-US" dirty="0"/>
              <a:t> </a:t>
            </a:r>
            <a:r>
              <a:rPr lang="en-US" dirty="0" err="1"/>
              <a:t>ovviamente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</a:t>
            </a:r>
            <a:r>
              <a:rPr lang="en-US" dirty="0" err="1"/>
              <a:t>limiti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macro-</a:t>
            </a:r>
            <a:r>
              <a:rPr lang="en-US" dirty="0" err="1"/>
              <a:t>ambiti</a:t>
            </a:r>
            <a:r>
              <a:rPr lang="en-US" dirty="0"/>
              <a:t> in cui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posiziona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1) ASP.NET/ASP.NET Core;</a:t>
            </a:r>
          </a:p>
          <a:p>
            <a:r>
              <a:rPr lang="en-US" dirty="0"/>
              <a:t>2) </a:t>
            </a:r>
            <a:r>
              <a:rPr lang="en-US" dirty="0" err="1"/>
              <a:t>Gestione</a:t>
            </a:r>
            <a:r>
              <a:rPr lang="en-US" dirty="0"/>
              <a:t> della UI </a:t>
            </a:r>
            <a:r>
              <a:rPr lang="en-US" dirty="0" err="1"/>
              <a:t>tramite</a:t>
            </a:r>
            <a:r>
              <a:rPr lang="en-US" dirty="0"/>
              <a:t> Widget JavaScript </a:t>
            </a:r>
            <a:r>
              <a:rPr lang="en-US" dirty="0" err="1"/>
              <a:t>concertati</a:t>
            </a:r>
            <a:r>
              <a:rPr lang="en-US" dirty="0"/>
              <a:t> </a:t>
            </a:r>
            <a:r>
              <a:rPr lang="en-US" dirty="0" err="1"/>
              <a:t>dagli</a:t>
            </a:r>
            <a:r>
              <a:rPr lang="en-US" dirty="0"/>
              <a:t> handler server side;</a:t>
            </a:r>
          </a:p>
          <a:p>
            <a:r>
              <a:rPr lang="en-US" dirty="0">
                <a:effectLst/>
              </a:rPr>
              <a:t>3) </a:t>
            </a:r>
            <a:r>
              <a:rPr lang="en-US" dirty="0" err="1"/>
              <a:t>Paradigma</a:t>
            </a:r>
            <a:r>
              <a:rPr lang="en-US" dirty="0"/>
              <a:t> di Sviluppo di </a:t>
            </a:r>
            <a:r>
              <a:rPr lang="en-US" dirty="0" err="1"/>
              <a:t>tipo</a:t>
            </a:r>
            <a:r>
              <a:rPr lang="en-US" dirty="0"/>
              <a:t> Desktop (OO, Event Driven).</a:t>
            </a:r>
          </a:p>
          <a:p>
            <a:endParaRPr lang="en-US" dirty="0"/>
          </a:p>
          <a:p>
            <a:r>
              <a:rPr lang="en-US" dirty="0"/>
              <a:t>Siete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liberi</a:t>
            </a:r>
            <a:r>
              <a:rPr lang="en-US" dirty="0"/>
              <a:t> di </a:t>
            </a:r>
            <a:r>
              <a:rPr lang="en-US" dirty="0" err="1"/>
              <a:t>usare</a:t>
            </a:r>
            <a:r>
              <a:rPr lang="en-US" dirty="0"/>
              <a:t> pattern </a:t>
            </a:r>
            <a:r>
              <a:rPr lang="en-US" dirty="0" err="1"/>
              <a:t>tradizionali</a:t>
            </a:r>
            <a:r>
              <a:rPr lang="en-US" dirty="0"/>
              <a:t> delle Sviluppo Windows Forms o pattern come MVVM (Mode, View, </a:t>
            </a:r>
            <a:r>
              <a:rPr lang="en-US" dirty="0" err="1"/>
              <a:t>ViewModel</a:t>
            </a:r>
            <a:r>
              <a:rPr lang="en-US" dirty="0"/>
              <a:t>), la </a:t>
            </a:r>
            <a:r>
              <a:rPr lang="en-US" dirty="0" err="1"/>
              <a:t>gestione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volete</a:t>
            </a:r>
            <a:r>
              <a:rPr lang="en-US" dirty="0"/>
              <a:t> (ADO, ORM </a:t>
            </a:r>
            <a:r>
              <a:rPr lang="en-US" dirty="0" err="1"/>
              <a:t>vari</a:t>
            </a:r>
            <a:r>
              <a:rPr lang="en-US" dirty="0"/>
              <a:t>, REST/API), le </a:t>
            </a:r>
            <a:r>
              <a:rPr lang="en-US" dirty="0" err="1"/>
              <a:t>strategie</a:t>
            </a:r>
            <a:r>
              <a:rPr lang="en-US" dirty="0"/>
              <a:t> di Dependency Injection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volete</a:t>
            </a:r>
            <a:r>
              <a:rPr lang="en-US" dirty="0"/>
              <a:t>, le </a:t>
            </a:r>
            <a:r>
              <a:rPr lang="en-US" dirty="0" err="1"/>
              <a:t>librerie</a:t>
            </a:r>
            <a:r>
              <a:rPr lang="en-US" dirty="0"/>
              <a:t> .NET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volete</a:t>
            </a:r>
            <a:r>
              <a:rPr lang="en-US" dirty="0"/>
              <a:t>. In </a:t>
            </a:r>
            <a:r>
              <a:rPr lang="en-US" dirty="0" err="1"/>
              <a:t>sostanza</a:t>
            </a:r>
            <a:r>
              <a:rPr lang="en-US" dirty="0"/>
              <a:t> </a:t>
            </a:r>
            <a:r>
              <a:rPr lang="en-US" dirty="0" err="1"/>
              <a:t>qualsiasi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 in .NET e JavaScript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. </a:t>
            </a:r>
          </a:p>
          <a:p>
            <a:endParaRPr lang="en-US" b="1" dirty="0"/>
          </a:p>
          <a:p>
            <a:r>
              <a:rPr lang="en-US" b="1" dirty="0"/>
              <a:t>Wisej.NET non vi </a:t>
            </a:r>
            <a:r>
              <a:rPr lang="en-US" b="1" dirty="0" err="1"/>
              <a:t>limita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Wisej.NET non è solo per </a:t>
            </a:r>
            <a:r>
              <a:rPr lang="en-US" dirty="0" err="1">
                <a:highlight>
                  <a:srgbClr val="FFFF00"/>
                </a:highlight>
              </a:rPr>
              <a:t>programmatori</a:t>
            </a:r>
            <a:r>
              <a:rPr lang="en-US" dirty="0">
                <a:highlight>
                  <a:srgbClr val="FFFF00"/>
                </a:highlight>
              </a:rPr>
              <a:t> C#, Wisej.NET fa le </a:t>
            </a:r>
            <a:r>
              <a:rPr lang="en-US" dirty="0" err="1">
                <a:highlight>
                  <a:srgbClr val="FFFF00"/>
                </a:highlight>
              </a:rPr>
              <a:t>stesse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cose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anche</a:t>
            </a:r>
            <a:r>
              <a:rPr lang="en-US" dirty="0">
                <a:highlight>
                  <a:srgbClr val="FFFF00"/>
                </a:highlight>
              </a:rPr>
              <a:t> se </a:t>
            </a:r>
            <a:r>
              <a:rPr lang="en-US" dirty="0" err="1">
                <a:highlight>
                  <a:srgbClr val="FFFF00"/>
                </a:highlight>
              </a:rPr>
              <a:t>usate</a:t>
            </a:r>
            <a:r>
              <a:rPr lang="en-US" dirty="0">
                <a:highlight>
                  <a:srgbClr val="FFFF00"/>
                </a:highlight>
              </a:rPr>
              <a:t> VB.NET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96096B-19AD-B6A9-92F0-E0B8EE26094B}"/>
              </a:ext>
            </a:extLst>
          </p:cNvPr>
          <p:cNvSpPr txBox="1"/>
          <p:nvPr/>
        </p:nvSpPr>
        <p:spPr>
          <a:xfrm>
            <a:off x="2737163" y="375510"/>
            <a:ext cx="9454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</a:rPr>
              <a:t>Per </a:t>
            </a:r>
            <a:r>
              <a:rPr lang="en-US" sz="2800" b="1" dirty="0" err="1">
                <a:effectLst/>
              </a:rPr>
              <a:t>i</a:t>
            </a:r>
            <a:r>
              <a:rPr lang="en-US" sz="2800" b="1" dirty="0">
                <a:effectLst/>
              </a:rPr>
              <a:t> Software Architect..</a:t>
            </a:r>
          </a:p>
        </p:txBody>
      </p:sp>
      <p:pic>
        <p:nvPicPr>
          <p:cNvPr id="6" name="Immagine 5" descr="Immagine che contiene testo, design, Elementi grafici, clipart&#10;&#10;Il contenuto generato dall'IA potrebbe non essere corretto.">
            <a:extLst>
              <a:ext uri="{FF2B5EF4-FFF2-40B4-BE49-F238E27FC236}">
                <a16:creationId xmlns:a16="http://schemas.microsoft.com/office/drawing/2014/main" id="{3C9D397A-0296-4125-9838-7E55DBD87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21" y="375510"/>
            <a:ext cx="1868442" cy="10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44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E24F-5BBB-7C36-01A6-AE300101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B60B3A-97E6-C286-A2D2-0E3839741849}"/>
              </a:ext>
            </a:extLst>
          </p:cNvPr>
          <p:cNvSpPr txBox="1"/>
          <p:nvPr/>
        </p:nvSpPr>
        <p:spPr>
          <a:xfrm>
            <a:off x="2856188" y="286182"/>
            <a:ext cx="70496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</a:rPr>
              <a:t>Per </a:t>
            </a:r>
            <a:r>
              <a:rPr lang="en-US" sz="2800" b="1" dirty="0" err="1">
                <a:effectLst/>
              </a:rPr>
              <a:t>i</a:t>
            </a:r>
            <a:r>
              <a:rPr lang="en-US" sz="2800" b="1" dirty="0">
                <a:effectLst/>
              </a:rPr>
              <a:t> Software Architect </a:t>
            </a:r>
          </a:p>
          <a:p>
            <a:r>
              <a:rPr lang="en-US" sz="2800" b="1" dirty="0" err="1">
                <a:effectLst/>
              </a:rPr>
              <a:t>ch</a:t>
            </a:r>
            <a:r>
              <a:rPr lang="en-US" sz="2800" b="1" dirty="0" err="1"/>
              <a:t>e</a:t>
            </a:r>
            <a:r>
              <a:rPr lang="en-US" sz="2800" b="1" dirty="0"/>
              <a:t> </a:t>
            </a:r>
            <a:r>
              <a:rPr lang="en-US" sz="2800" b="1" dirty="0" err="1"/>
              <a:t>vogliono</a:t>
            </a:r>
            <a:r>
              <a:rPr lang="en-US" sz="2800" b="1" dirty="0"/>
              <a:t> </a:t>
            </a:r>
            <a:r>
              <a:rPr lang="en-US" sz="2800" b="1" dirty="0" err="1"/>
              <a:t>approfondire</a:t>
            </a:r>
            <a:endParaRPr lang="en-US" sz="2800" b="1" dirty="0">
              <a:effectLst/>
            </a:endParaRPr>
          </a:p>
        </p:txBody>
      </p:sp>
      <p:pic>
        <p:nvPicPr>
          <p:cNvPr id="7" name="Immagine 6" descr="Immagine che contiene testo, design, Elementi grafici, clipart&#10;&#10;Il contenuto generato dall'IA potrebbe non essere corretto.">
            <a:extLst>
              <a:ext uri="{FF2B5EF4-FFF2-40B4-BE49-F238E27FC236}">
                <a16:creationId xmlns:a16="http://schemas.microsoft.com/office/drawing/2014/main" id="{E6355DB9-1FAB-D7B5-61BE-CF646B23B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64" y="380493"/>
            <a:ext cx="1856261" cy="104298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F17FDE6-37F5-D293-766C-0800D946A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96" y="1680469"/>
            <a:ext cx="9103165" cy="440241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BD84CAB-66B8-BDEE-4EF1-6F066FEDD103}"/>
              </a:ext>
            </a:extLst>
          </p:cNvPr>
          <p:cNvSpPr txBox="1"/>
          <p:nvPr/>
        </p:nvSpPr>
        <p:spPr>
          <a:xfrm>
            <a:off x="2856188" y="1134981"/>
            <a:ext cx="9523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https://www.learnwisej.net/wisej.net-application-architectures/</a:t>
            </a:r>
          </a:p>
        </p:txBody>
      </p:sp>
    </p:spTree>
    <p:extLst>
      <p:ext uri="{BB962C8B-B14F-4D97-AF65-F5344CB8AC3E}">
        <p14:creationId xmlns:p14="http://schemas.microsoft.com/office/powerpoint/2010/main" val="355324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3ED1E8-D3BF-D352-57DD-0C0F3ECEA54E}"/>
              </a:ext>
            </a:extLst>
          </p:cNvPr>
          <p:cNvSpPr txBox="1"/>
          <p:nvPr/>
        </p:nvSpPr>
        <p:spPr>
          <a:xfrm>
            <a:off x="2221116" y="449330"/>
            <a:ext cx="81601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323238"/>
                </a:solidFill>
                <a:effectLst/>
              </a:rPr>
              <a:t>Aperto ed</a:t>
            </a:r>
            <a:br>
              <a:rPr lang="it-IT" sz="4000" b="1" dirty="0">
                <a:solidFill>
                  <a:srgbClr val="323238"/>
                </a:solidFill>
                <a:effectLst/>
              </a:rPr>
            </a:br>
            <a:r>
              <a:rPr lang="it-IT" sz="4000" b="1" dirty="0">
                <a:solidFill>
                  <a:srgbClr val="8C2CD1"/>
                </a:solidFill>
              </a:rPr>
              <a:t>Integrato</a:t>
            </a:r>
            <a:endParaRPr lang="it-IT" sz="4000" b="1" dirty="0">
              <a:solidFill>
                <a:srgbClr val="323238"/>
              </a:solidFill>
              <a:effectLst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B9A677F-8AF3-7774-ED2C-C8687AEFB7D4}"/>
              </a:ext>
            </a:extLst>
          </p:cNvPr>
          <p:cNvSpPr txBox="1"/>
          <p:nvPr/>
        </p:nvSpPr>
        <p:spPr>
          <a:xfrm>
            <a:off x="806345" y="2076295"/>
            <a:ext cx="105322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Integra tutto il mondo .NET e la quasi totalità dei widget JavaScript in un framework standard e coerente, più semplice da mantenere e distribuire.</a:t>
            </a:r>
            <a:endParaRPr lang="it-IT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b="1" dirty="0"/>
              <a:t>Wisej.NET si occupa del caricamento, dell'ottimizzazione, dell'inizializzazione, dell'instradamento, dello stile e della gestione dei widget, trattandoli sia come componenti lato server che come widget lato client.</a:t>
            </a:r>
            <a:endParaRPr lang="en-US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6" name="Immagine 5" descr="Immagine che contiene viola, schermata, violetto, Policromia&#10;&#10;Il contenuto generato dall'IA potrebbe non essere corretto.">
            <a:extLst>
              <a:ext uri="{FF2B5EF4-FFF2-40B4-BE49-F238E27FC236}">
                <a16:creationId xmlns:a16="http://schemas.microsoft.com/office/drawing/2014/main" id="{BEC3D4E4-A09B-C4CB-A25B-D489E59E1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45" y="336611"/>
            <a:ext cx="1383569" cy="154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9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1D17EF-CB22-E49C-3A65-B23ABA18C32B}"/>
              </a:ext>
            </a:extLst>
          </p:cNvPr>
          <p:cNvSpPr txBox="1"/>
          <p:nvPr/>
        </p:nvSpPr>
        <p:spPr>
          <a:xfrm>
            <a:off x="2385512" y="639512"/>
            <a:ext cx="74209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8C2CD1"/>
                </a:solidFill>
              </a:rPr>
              <a:t>Full</a:t>
            </a:r>
            <a:br>
              <a:rPr lang="it-IT" sz="4000" b="1" dirty="0">
                <a:solidFill>
                  <a:srgbClr val="8C2CD1"/>
                </a:solidFill>
              </a:rPr>
            </a:br>
            <a:r>
              <a:rPr lang="it-IT" sz="4000" b="1" dirty="0"/>
              <a:t>Control Set</a:t>
            </a:r>
            <a:endParaRPr lang="en-US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6" name="Immagine 5" descr="Immagine che contiene viola, schermata, cerchio, Policromia&#10;&#10;Il contenuto generato dall'IA potrebbe non essere corretto.">
            <a:extLst>
              <a:ext uri="{FF2B5EF4-FFF2-40B4-BE49-F238E27FC236}">
                <a16:creationId xmlns:a16="http://schemas.microsoft.com/office/drawing/2014/main" id="{DB94355D-8520-2D00-E539-85659D0DC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86" y="485624"/>
            <a:ext cx="1457119" cy="163121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46EECA0-24C2-7304-1C4E-4452AFCB4B9F}"/>
              </a:ext>
            </a:extLst>
          </p:cNvPr>
          <p:cNvSpPr txBox="1"/>
          <p:nvPr/>
        </p:nvSpPr>
        <p:spPr>
          <a:xfrm>
            <a:off x="802986" y="2336780"/>
            <a:ext cx="5293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Wisej.NET include già pronti all'uso tutti i controlli di cui avrai mai bisogno. </a:t>
            </a:r>
            <a:r>
              <a:rPr lang="it-IT" sz="3200" b="1" dirty="0"/>
              <a:t>E se alcuni dovessero mancare, si possono aggiungere tramite interfaccia Widget.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6AB2261-6BD1-4702-6339-78281DE7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337" y="2336780"/>
            <a:ext cx="5087751" cy="353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057AFF-A3F6-D647-3299-C9F9BCD1F137}"/>
              </a:ext>
            </a:extLst>
          </p:cNvPr>
          <p:cNvSpPr txBox="1"/>
          <p:nvPr/>
        </p:nvSpPr>
        <p:spPr>
          <a:xfrm>
            <a:off x="2341424" y="531018"/>
            <a:ext cx="100342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7030A0"/>
                </a:solidFill>
              </a:rPr>
              <a:t>Wisej.NET </a:t>
            </a:r>
          </a:p>
          <a:p>
            <a:r>
              <a:rPr lang="it-IT" sz="4000" b="1" dirty="0" err="1"/>
              <a:t>Hybrid</a:t>
            </a:r>
            <a:endParaRPr lang="en-US" sz="4000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DEB064BC-36FC-28AB-CC3A-FA4E7E1F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0" y="345871"/>
            <a:ext cx="1512964" cy="169373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0BAAD1-5027-2BA6-F038-801C67174960}"/>
              </a:ext>
            </a:extLst>
          </p:cNvPr>
          <p:cNvSpPr txBox="1"/>
          <p:nvPr/>
        </p:nvSpPr>
        <p:spPr>
          <a:xfrm>
            <a:off x="828460" y="2110444"/>
            <a:ext cx="1042780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Le applicazioni Wisej.NET in modalità </a:t>
            </a:r>
            <a:r>
              <a:rPr lang="it-IT" sz="3200" b="1" dirty="0" err="1">
                <a:solidFill>
                  <a:srgbClr val="7030A0"/>
                </a:solidFill>
              </a:rPr>
              <a:t>Hybrid</a:t>
            </a:r>
            <a:br>
              <a:rPr lang="it-IT" sz="3200" b="1" dirty="0">
                <a:solidFill>
                  <a:srgbClr val="7030A0"/>
                </a:solidFill>
              </a:rPr>
            </a:br>
            <a:r>
              <a:rPr lang="it-IT" sz="3200" b="1" dirty="0"/>
              <a:t>(</a:t>
            </a:r>
            <a:r>
              <a:rPr lang="it-IT" sz="3200" b="1" dirty="0" err="1"/>
              <a:t>Hybrid</a:t>
            </a:r>
            <a:r>
              <a:rPr lang="it-IT" sz="3200" b="1" dirty="0"/>
              <a:t> = Wisej.NET + .NET MAUI)</a:t>
            </a:r>
          </a:p>
          <a:p>
            <a:br>
              <a:rPr lang="it-IT" sz="2800" dirty="0"/>
            </a:br>
            <a:r>
              <a:rPr lang="it-IT" sz="2400" dirty="0"/>
              <a:t>Le applicazioni Wisej.NET </a:t>
            </a:r>
            <a:r>
              <a:rPr lang="it-IT" sz="2400" dirty="0" err="1"/>
              <a:t>Hybrid</a:t>
            </a:r>
            <a:r>
              <a:rPr lang="it-IT" sz="2400" dirty="0"/>
              <a:t> sono applicazioni ASP.NET Core capaci di sfruttare le capacità NATIVE delle devices su cui girano. Le applicazioni possono funzionale localmente sulla device o in modalità remota.</a:t>
            </a:r>
          </a:p>
          <a:p>
            <a:r>
              <a:rPr lang="it-IT" dirty="0"/>
              <a:t>https://docs.wisej.com/hybrid/start/architecture</a:t>
            </a:r>
            <a:br>
              <a:rPr lang="it-IT" dirty="0"/>
            </a:br>
            <a:r>
              <a:rPr lang="it-IT" dirty="0">
                <a:highlight>
                  <a:srgbClr val="FFFF00"/>
                </a:highlight>
              </a:rPr>
              <a:t>https://www.learnwisej.net/wisej.net-application-architectures/going-native-with-wisej.net-hybrid</a:t>
            </a:r>
            <a:br>
              <a:rPr lang="it-IT" sz="3200" b="1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547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43E3-9C75-8986-6EE4-DDBFFAAE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1B8A906-C35B-7BDA-F19C-9320A376EBD4}"/>
              </a:ext>
            </a:extLst>
          </p:cNvPr>
          <p:cNvSpPr txBox="1"/>
          <p:nvPr/>
        </p:nvSpPr>
        <p:spPr>
          <a:xfrm>
            <a:off x="2341424" y="531018"/>
            <a:ext cx="100342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7030A0"/>
                </a:solidFill>
              </a:rPr>
              <a:t>Wisej.NET </a:t>
            </a:r>
            <a:r>
              <a:rPr lang="it-IT" sz="4000" b="1" dirty="0" err="1"/>
              <a:t>Hybrid</a:t>
            </a:r>
            <a:r>
              <a:rPr lang="it-IT" sz="4000" b="1" dirty="0"/>
              <a:t> </a:t>
            </a:r>
          </a:p>
          <a:p>
            <a:r>
              <a:rPr lang="it-IT" sz="4000" b="1" dirty="0">
                <a:solidFill>
                  <a:srgbClr val="7030A0"/>
                </a:solidFill>
              </a:rPr>
              <a:t>Architettura</a:t>
            </a:r>
            <a:endParaRPr lang="en-US" sz="4000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18B64180-8EA6-AB1A-B1B5-0F80749D3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0" y="345871"/>
            <a:ext cx="1512964" cy="169373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A21F3D7-F08C-9841-B617-ADDA32C63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" y="2099568"/>
            <a:ext cx="5434644" cy="407598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B325AD0-7AA6-57F6-2426-83B7E2D72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262" y="2099568"/>
            <a:ext cx="4693978" cy="412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45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8836-CCD1-09BA-AE5A-1EA703C6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B8FCC1-CD68-1E50-1CBC-0B189E1216FA}"/>
              </a:ext>
            </a:extLst>
          </p:cNvPr>
          <p:cNvSpPr txBox="1"/>
          <p:nvPr/>
        </p:nvSpPr>
        <p:spPr>
          <a:xfrm>
            <a:off x="2207064" y="296320"/>
            <a:ext cx="94548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>
                <a:solidFill>
                  <a:srgbClr val="7030A0"/>
                </a:solidFill>
              </a:rPr>
              <a:t>Cloud Ready</a:t>
            </a:r>
            <a:br>
              <a:rPr lang="it-IT" sz="4000" b="1" dirty="0">
                <a:solidFill>
                  <a:srgbClr val="7030A0"/>
                </a:solidFill>
              </a:rPr>
            </a:br>
            <a:r>
              <a:rPr lang="it-IT" sz="4000" b="1" dirty="0" err="1"/>
              <a:t>MultiPlatform</a:t>
            </a:r>
            <a:endParaRPr lang="it-IT" sz="4000" b="1" dirty="0"/>
          </a:p>
          <a:p>
            <a:r>
              <a:rPr lang="it-IT" sz="4000" b="1" dirty="0" err="1">
                <a:solidFill>
                  <a:srgbClr val="7030A0"/>
                </a:solidFill>
              </a:rPr>
              <a:t>Multidevice</a:t>
            </a:r>
            <a:endParaRPr lang="en-US" sz="4000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D720C29B-C05E-BC0A-8DF1-902AD4CCB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418949"/>
            <a:ext cx="1512964" cy="169373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2ED0AD8-BAAE-30DE-0DC7-BD6AE0C7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0" y="3641021"/>
            <a:ext cx="5800615" cy="204665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C8D4474-3D66-E951-1756-2B76BC9DB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77" y="3593318"/>
            <a:ext cx="4469758" cy="214205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737EDD0-D4BC-03F8-591A-7653CE96585E}"/>
              </a:ext>
            </a:extLst>
          </p:cNvPr>
          <p:cNvSpPr txBox="1"/>
          <p:nvPr/>
        </p:nvSpPr>
        <p:spPr>
          <a:xfrm>
            <a:off x="694099" y="2482133"/>
            <a:ext cx="104135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Le applicazioni Wisej.NET sono pronte per distribuzioni scalabili nel cloud, ambienti embedded e server locali.</a:t>
            </a:r>
          </a:p>
        </p:txBody>
      </p:sp>
    </p:spTree>
    <p:extLst>
      <p:ext uri="{BB962C8B-B14F-4D97-AF65-F5344CB8AC3E}">
        <p14:creationId xmlns:p14="http://schemas.microsoft.com/office/powerpoint/2010/main" val="3521034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FC9D8C-C7B4-8F7F-AF9C-8672A506E6EC}"/>
              </a:ext>
            </a:extLst>
          </p:cNvPr>
          <p:cNvSpPr txBox="1"/>
          <p:nvPr/>
        </p:nvSpPr>
        <p:spPr>
          <a:xfrm>
            <a:off x="2207064" y="689512"/>
            <a:ext cx="94548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/>
              <a:t>Modernizzazione</a:t>
            </a:r>
            <a:r>
              <a:rPr lang="en-US" sz="4000" b="1" dirty="0"/>
              <a:t> </a:t>
            </a:r>
            <a:r>
              <a:rPr lang="en-US" sz="4000" b="1" dirty="0" err="1"/>
              <a:t>Applicazioni</a:t>
            </a:r>
            <a:br>
              <a:rPr lang="en-US" sz="4000" b="1" dirty="0"/>
            </a:br>
            <a:endParaRPr lang="en-US" sz="4000" b="1" dirty="0"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AC2602EC-C892-E199-2E01-A5CAB28AF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418949"/>
            <a:ext cx="1512964" cy="169373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CCE5BC1-33B7-101D-DA7F-414F8ADF5FC0}"/>
              </a:ext>
            </a:extLst>
          </p:cNvPr>
          <p:cNvSpPr txBox="1"/>
          <p:nvPr/>
        </p:nvSpPr>
        <p:spPr>
          <a:xfrm>
            <a:off x="667571" y="2283514"/>
            <a:ext cx="1131964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 err="1">
                <a:hlinkClick r:id="rId3"/>
              </a:rPr>
              <a:t>Introduction</a:t>
            </a:r>
            <a:r>
              <a:rPr lang="it-IT" sz="3600" dirty="0">
                <a:hlinkClick r:id="rId3"/>
              </a:rPr>
              <a:t> | Wisej.NET Migration</a:t>
            </a:r>
            <a:br>
              <a:rPr lang="it-IT" sz="3600" dirty="0"/>
            </a:br>
            <a:r>
              <a:rPr lang="it-IT" sz="3600" dirty="0"/>
              <a:t>https://docs.wisej.com/migration</a:t>
            </a:r>
            <a:br>
              <a:rPr lang="en-US" sz="3600" dirty="0">
                <a:hlinkClick r:id="rId4"/>
              </a:rPr>
            </a:br>
            <a:br>
              <a:rPr lang="en-US" sz="3600" dirty="0">
                <a:hlinkClick r:id="rId4"/>
              </a:rPr>
            </a:br>
            <a:r>
              <a:rPr lang="en-US" sz="3600" dirty="0">
                <a:hlinkClick r:id="rId4"/>
              </a:rPr>
              <a:t>Dino Esposito Modernization White Paper – Wisej.NET</a:t>
            </a:r>
            <a:br>
              <a:rPr lang="en-US" sz="3600" dirty="0"/>
            </a:br>
            <a:r>
              <a:rPr lang="en-US" sz="3200" dirty="0"/>
              <a:t>https://wisej.com/modernization-whitepaper-dino-esposito/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143540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6D8D-5FE8-34DF-B094-C4F8D80A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C05262-141F-F2DE-734C-D6CD1EE7D6CC}"/>
              </a:ext>
            </a:extLst>
          </p:cNvPr>
          <p:cNvSpPr txBox="1"/>
          <p:nvPr/>
        </p:nvSpPr>
        <p:spPr>
          <a:xfrm>
            <a:off x="2207064" y="689512"/>
            <a:ext cx="94548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/>
              </a:rPr>
              <a:t>Cosa </a:t>
            </a:r>
            <a:r>
              <a:rPr lang="en-US" sz="4000" b="1" dirty="0" err="1">
                <a:solidFill>
                  <a:srgbClr val="7030A0"/>
                </a:solidFill>
                <a:effectLst/>
              </a:rPr>
              <a:t>hanno</a:t>
            </a:r>
            <a:r>
              <a:rPr lang="en-US" sz="4000" b="1" dirty="0">
                <a:solidFill>
                  <a:srgbClr val="7030A0"/>
                </a:solidFill>
                <a:effectLst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effectLst/>
              </a:rPr>
              <a:t>fatto</a:t>
            </a:r>
            <a:r>
              <a:rPr lang="en-US" sz="4000" b="1" dirty="0">
                <a:solidFill>
                  <a:srgbClr val="7030A0"/>
                </a:solidFill>
                <a:effectLst/>
              </a:rPr>
              <a:t> e </a:t>
            </a:r>
            <a:r>
              <a:rPr lang="en-US" sz="4000" b="1" dirty="0" err="1">
                <a:solidFill>
                  <a:srgbClr val="7030A0"/>
                </a:solidFill>
                <a:effectLst/>
              </a:rPr>
              <a:t>fanno</a:t>
            </a:r>
            <a:r>
              <a:rPr lang="en-US" sz="4000" b="1" dirty="0">
                <a:solidFill>
                  <a:srgbClr val="7030A0"/>
                </a:solidFill>
                <a:effectLst/>
              </a:rPr>
              <a:t> con </a:t>
            </a:r>
            <a:r>
              <a:rPr lang="en-US" sz="4000" b="1" dirty="0">
                <a:effectLst/>
              </a:rPr>
              <a:t>Wisej</a:t>
            </a:r>
            <a:r>
              <a:rPr lang="en-US" sz="4000" b="1" dirty="0"/>
              <a:t>.NET</a:t>
            </a:r>
            <a:br>
              <a:rPr lang="en-US" sz="4000" b="1" dirty="0"/>
            </a:br>
            <a:endParaRPr lang="en-US" sz="4000" b="1" dirty="0"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0150EC87-6E4F-0397-DC7D-D1CBCC1E0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418949"/>
            <a:ext cx="1512964" cy="169373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8A5EFE4-4185-CB28-9F10-591BA6A306D0}"/>
              </a:ext>
            </a:extLst>
          </p:cNvPr>
          <p:cNvSpPr txBox="1"/>
          <p:nvPr/>
        </p:nvSpPr>
        <p:spPr>
          <a:xfrm>
            <a:off x="2471166" y="2283514"/>
            <a:ext cx="76512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dirty="0">
                <a:hlinkClick r:id="rId3"/>
              </a:rPr>
              <a:t>https://wisej.com/case-studies/</a:t>
            </a:r>
            <a:endParaRPr lang="it-IT" sz="4000" dirty="0"/>
          </a:p>
          <a:p>
            <a:endParaRPr lang="it-IT" sz="4000" dirty="0"/>
          </a:p>
          <a:p>
            <a:r>
              <a:rPr lang="it-IT" sz="4000" dirty="0">
                <a:hlinkClick r:id="rId4"/>
              </a:rPr>
              <a:t>https://madewithwisej.com/</a:t>
            </a:r>
            <a:endParaRPr lang="it-IT" sz="4000" dirty="0"/>
          </a:p>
          <a:p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341458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1B4E2A94-9130-8A63-3B63-C6B841096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30" y="288740"/>
            <a:ext cx="1512964" cy="169373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92A2D0-1EB8-669A-505B-6B934F7212FF}"/>
              </a:ext>
            </a:extLst>
          </p:cNvPr>
          <p:cNvSpPr txBox="1"/>
          <p:nvPr/>
        </p:nvSpPr>
        <p:spPr>
          <a:xfrm>
            <a:off x="907530" y="2115145"/>
            <a:ext cx="7598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https://wisej.com/documentation/</a:t>
            </a:r>
            <a:br>
              <a:rPr lang="it-IT" sz="3200" b="1" dirty="0">
                <a:solidFill>
                  <a:srgbClr val="7030A0"/>
                </a:solidFill>
              </a:rPr>
            </a:br>
            <a:r>
              <a:rPr lang="it-IT" sz="3200" b="1" dirty="0">
                <a:solidFill>
                  <a:srgbClr val="7030A0"/>
                </a:solidFill>
              </a:rPr>
              <a:t>https://www.learnwisej.net/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482D0EE-A585-CD32-CCF4-C6FBA5FC524C}"/>
              </a:ext>
            </a:extLst>
          </p:cNvPr>
          <p:cNvGrpSpPr/>
          <p:nvPr/>
        </p:nvGrpSpPr>
        <p:grpSpPr>
          <a:xfrm>
            <a:off x="2004442" y="3192363"/>
            <a:ext cx="7068312" cy="2986128"/>
            <a:chOff x="850158" y="2338044"/>
            <a:chExt cx="8685511" cy="3788436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4AAC299E-7817-58FF-E217-DB0C25ACD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158" y="2338044"/>
              <a:ext cx="6008877" cy="3761004"/>
            </a:xfrm>
            <a:prstGeom prst="rect">
              <a:avLst/>
            </a:prstGeom>
          </p:spPr>
        </p:pic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86D4C1A0-5139-07AB-4471-09DCB80855A4}"/>
                </a:ext>
              </a:extLst>
            </p:cNvPr>
            <p:cNvGrpSpPr/>
            <p:nvPr/>
          </p:nvGrpSpPr>
          <p:grpSpPr>
            <a:xfrm>
              <a:off x="6813315" y="2365476"/>
              <a:ext cx="2722354" cy="3761004"/>
              <a:chOff x="10030374" y="984731"/>
              <a:chExt cx="3743069" cy="4906825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83C30CA3-965E-1329-BC56-19A4EAC5B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30374" y="984731"/>
                <a:ext cx="3743069" cy="2444269"/>
              </a:xfrm>
              <a:prstGeom prst="rect">
                <a:avLst/>
              </a:prstGeom>
            </p:spPr>
          </p:pic>
          <p:pic>
            <p:nvPicPr>
              <p:cNvPr id="13" name="Immagine 12">
                <a:extLst>
                  <a:ext uri="{FF2B5EF4-FFF2-40B4-BE49-F238E27FC236}">
                    <a16:creationId xmlns:a16="http://schemas.microsoft.com/office/drawing/2014/main" id="{58D3A998-0D03-9977-E93C-7323A2C97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9371" y="3367079"/>
                <a:ext cx="3641493" cy="2524477"/>
              </a:xfrm>
              <a:prstGeom prst="rect">
                <a:avLst/>
              </a:prstGeom>
            </p:spPr>
          </p:pic>
        </p:grpSp>
      </p:grp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C5A633A-DF14-D66B-5B5F-69D33F5253DE}"/>
              </a:ext>
            </a:extLst>
          </p:cNvPr>
          <p:cNvSpPr txBox="1"/>
          <p:nvPr/>
        </p:nvSpPr>
        <p:spPr>
          <a:xfrm>
            <a:off x="2420494" y="540223"/>
            <a:ext cx="62362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/>
              <a:t>Documentazione </a:t>
            </a:r>
          </a:p>
          <a:p>
            <a:r>
              <a:rPr lang="it-IT" sz="4000" b="1" dirty="0">
                <a:solidFill>
                  <a:srgbClr val="7030A0"/>
                </a:solidFill>
              </a:rPr>
              <a:t>&amp; Learning</a:t>
            </a:r>
            <a:endParaRPr lang="en-US" sz="4000" b="1" dirty="0"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8930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B7828C-C7FF-5FBB-29CE-B3C7DF1E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746250"/>
            <a:ext cx="10515600" cy="4334510"/>
          </a:xfrm>
        </p:spPr>
        <p:txBody>
          <a:bodyPr>
            <a:normAutofit fontScale="90000"/>
          </a:bodyPr>
          <a:lstStyle/>
          <a:p>
            <a:r>
              <a:rPr lang="it-IT" sz="3100" b="1" dirty="0"/>
              <a:t>Connettere le business </a:t>
            </a:r>
            <a:r>
              <a:rPr lang="it-IT" sz="3100" b="1" dirty="0" err="1"/>
              <a:t>applications</a:t>
            </a:r>
            <a:r>
              <a:rPr lang="it-IT" sz="3100" b="1" dirty="0"/>
              <a:t> all’AI. </a:t>
            </a:r>
            <a:r>
              <a:rPr lang="it-IT" sz="3100" b="1" dirty="0">
                <a:solidFill>
                  <a:srgbClr val="7030A0"/>
                </a:solidFill>
              </a:rPr>
              <a:t>SEMPLICEMENTE</a:t>
            </a:r>
            <a:br>
              <a:rPr lang="it-IT" sz="3100" b="1" dirty="0"/>
            </a:br>
            <a:r>
              <a:rPr lang="it-IT" sz="3100" b="1" dirty="0"/>
              <a:t>https://wisej.ai/</a:t>
            </a:r>
            <a:br>
              <a:rPr lang="it-IT" dirty="0"/>
            </a:br>
            <a:br>
              <a:rPr lang="it-IT" dirty="0"/>
            </a:br>
            <a:r>
              <a:rPr lang="it-IT" sz="2400" dirty="0"/>
              <a:t>Wisej.AI aggiunge funzioni di intelligenza artificiale alle applicazioni Wisej.NET senza dover scrivere codice complesso.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Funziona tramite un componente chiamato </a:t>
            </a:r>
            <a:r>
              <a:rPr lang="it-IT" sz="2400" b="1" dirty="0" err="1"/>
              <a:t>SmartHub</a:t>
            </a:r>
            <a:r>
              <a:rPr lang="it-IT" sz="2400" dirty="0"/>
              <a:t>, che collega i controlli dell’app a modelli AI, prompt e fonti dati. 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Una volta aggiunto il componente nel designer, ogni controllo può usare l’AI per generare testo, rispondere all’utente, classificare dati o automatizzare azioni, il tutto integrato nativamente nell’interfaccia Wisej.NET.</a:t>
            </a:r>
          </a:p>
        </p:txBody>
      </p:sp>
      <p:pic>
        <p:nvPicPr>
          <p:cNvPr id="11" name="Segnaposto contenuto 10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456307DC-724C-2D88-F36C-C97B7096B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7331"/>
            <a:ext cx="4552950" cy="1581150"/>
          </a:xfrm>
        </p:spPr>
      </p:pic>
    </p:spTree>
    <p:extLst>
      <p:ext uri="{BB962C8B-B14F-4D97-AF65-F5344CB8AC3E}">
        <p14:creationId xmlns:p14="http://schemas.microsoft.com/office/powerpoint/2010/main" val="1972492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3CAB-5DA9-42DB-0486-C7825ED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bianco, design">
            <a:extLst>
              <a:ext uri="{FF2B5EF4-FFF2-40B4-BE49-F238E27FC236}">
                <a16:creationId xmlns:a16="http://schemas.microsoft.com/office/drawing/2014/main" id="{8A302B85-7A96-DF1B-9D7B-2128C488E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260" y="2299589"/>
            <a:ext cx="7438180" cy="4009644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FA08339-8BA7-4192-B8DE-0DD187F8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746250"/>
            <a:ext cx="10515600" cy="1581150"/>
          </a:xfrm>
        </p:spPr>
        <p:txBody>
          <a:bodyPr>
            <a:normAutofit fontScale="90000"/>
          </a:bodyPr>
          <a:lstStyle/>
          <a:p>
            <a:r>
              <a:rPr lang="it-IT" sz="3100" b="1" dirty="0"/>
              <a:t>Connettere le business </a:t>
            </a:r>
            <a:r>
              <a:rPr lang="it-IT" sz="3100" b="1" dirty="0" err="1"/>
              <a:t>applications</a:t>
            </a:r>
            <a:r>
              <a:rPr lang="it-IT" sz="3100" b="1" dirty="0"/>
              <a:t> all’AI. </a:t>
            </a:r>
            <a:r>
              <a:rPr lang="it-IT" sz="3100" b="1" dirty="0">
                <a:solidFill>
                  <a:srgbClr val="7030A0"/>
                </a:solidFill>
              </a:rPr>
              <a:t>SEMPLICEMENTE</a:t>
            </a:r>
            <a:br>
              <a:rPr lang="it-IT" sz="3100" b="1" dirty="0"/>
            </a:br>
            <a:r>
              <a:rPr lang="it-IT" sz="3100" b="1" dirty="0"/>
              <a:t>https://wisej.ai/</a:t>
            </a:r>
            <a:br>
              <a:rPr lang="it-IT" sz="3100" b="1" dirty="0"/>
            </a:br>
            <a:r>
              <a:rPr lang="it-IT" sz="3100" b="1" dirty="0"/>
              <a:t>https://docs.wisej.com/ai</a:t>
            </a:r>
            <a:br>
              <a:rPr lang="it-IT" dirty="0"/>
            </a:br>
            <a:endParaRPr lang="it-IT" sz="2400" dirty="0"/>
          </a:p>
        </p:txBody>
      </p:sp>
      <p:pic>
        <p:nvPicPr>
          <p:cNvPr id="11" name="Segnaposto contenuto 10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86762CB9-1F4C-CCA2-C519-93ED20FC5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7331"/>
            <a:ext cx="4552950" cy="1581150"/>
          </a:xfrm>
        </p:spPr>
      </p:pic>
    </p:spTree>
    <p:extLst>
      <p:ext uri="{BB962C8B-B14F-4D97-AF65-F5344CB8AC3E}">
        <p14:creationId xmlns:p14="http://schemas.microsoft.com/office/powerpoint/2010/main" val="323710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2DD81-659E-A8A1-5C04-A764F2FAA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BE030B13-6424-FF13-E5A1-0B8DD8245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7331"/>
            <a:ext cx="4552950" cy="1581150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C770EFF-5682-FAA3-4CB6-CA8FE59784AE}"/>
              </a:ext>
            </a:extLst>
          </p:cNvPr>
          <p:cNvSpPr txBox="1"/>
          <p:nvPr/>
        </p:nvSpPr>
        <p:spPr>
          <a:xfrm>
            <a:off x="590550" y="2284363"/>
            <a:ext cx="107823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800" b="1" dirty="0"/>
              <a:t>🧠 Cos’è Wisej.AI</a:t>
            </a:r>
          </a:p>
          <a:p>
            <a:pPr>
              <a:buNone/>
            </a:pPr>
            <a:r>
              <a:rPr lang="it-IT" sz="2800" dirty="0"/>
              <a:t>È un insieme di </a:t>
            </a:r>
            <a:r>
              <a:rPr lang="it-IT" sz="2800" b="1" dirty="0"/>
              <a:t>adattatori intelligenti (Smart </a:t>
            </a:r>
            <a:r>
              <a:rPr lang="it-IT" sz="2800" b="1" dirty="0" err="1"/>
              <a:t>Adapters</a:t>
            </a:r>
            <a:r>
              <a:rPr lang="it-IT" sz="2800" b="1" dirty="0"/>
              <a:t>)</a:t>
            </a:r>
            <a:r>
              <a:rPr lang="it-IT" sz="2800" dirty="0"/>
              <a:t> che puoi collegare ai normali controlli </a:t>
            </a:r>
            <a:r>
              <a:rPr lang="it-IT" sz="2800" dirty="0" err="1"/>
              <a:t>Wisej</a:t>
            </a:r>
            <a:r>
              <a:rPr lang="it-IT" sz="2800" dirty="0"/>
              <a:t> (come </a:t>
            </a:r>
            <a:r>
              <a:rPr lang="it-IT" sz="2800" dirty="0" err="1">
                <a:latin typeface="Courier New" panose="02070309020205020404" pitchFamily="49" charset="0"/>
              </a:rPr>
              <a:t>ChatBox</a:t>
            </a:r>
            <a:r>
              <a:rPr lang="it-IT" sz="2800" dirty="0"/>
              <a:t>, </a:t>
            </a:r>
            <a:r>
              <a:rPr lang="it-IT" sz="2800" dirty="0" err="1">
                <a:latin typeface="Courier New" panose="02070309020205020404" pitchFamily="49" charset="0"/>
              </a:rPr>
              <a:t>ComboBox</a:t>
            </a:r>
            <a:r>
              <a:rPr lang="it-IT" sz="2800" dirty="0"/>
              <a:t>, </a:t>
            </a:r>
            <a:r>
              <a:rPr lang="it-IT" sz="2800" dirty="0" err="1">
                <a:latin typeface="Courier New" panose="02070309020205020404" pitchFamily="49" charset="0"/>
              </a:rPr>
              <a:t>Calendar</a:t>
            </a:r>
            <a:r>
              <a:rPr lang="it-IT" sz="2800" dirty="0"/>
              <a:t>, </a:t>
            </a:r>
            <a:r>
              <a:rPr lang="it-IT" sz="2800" dirty="0">
                <a:latin typeface="Courier New" panose="02070309020205020404" pitchFamily="49" charset="0"/>
              </a:rPr>
              <a:t>Chart</a:t>
            </a:r>
            <a:r>
              <a:rPr lang="it-IT" sz="2800" dirty="0"/>
              <a:t>, </a:t>
            </a:r>
            <a:r>
              <a:rPr lang="it-IT" sz="2800" dirty="0">
                <a:latin typeface="Courier New" panose="02070309020205020404" pitchFamily="49" charset="0"/>
              </a:rPr>
              <a:t>Audio</a:t>
            </a:r>
            <a:r>
              <a:rPr lang="it-IT" sz="2800" dirty="0"/>
              <a:t>, ecc.) per potenziarli con l’intelligenza artificiale.</a:t>
            </a:r>
            <a:br>
              <a:rPr lang="it-IT" sz="2800" dirty="0"/>
            </a:br>
            <a:r>
              <a:rPr lang="it-IT" sz="2800" dirty="0"/>
              <a:t>Gli adattatori comunicano con modelli AI come </a:t>
            </a:r>
            <a:r>
              <a:rPr lang="it-IT" sz="2800" b="1" dirty="0"/>
              <a:t>OpenAI GPT-4/4o, </a:t>
            </a:r>
            <a:r>
              <a:rPr lang="it-IT" sz="2800" b="1" dirty="0" err="1"/>
              <a:t>Anthropic</a:t>
            </a:r>
            <a:r>
              <a:rPr lang="it-IT" sz="2800" b="1" dirty="0"/>
              <a:t> Claude, Google Gemini, </a:t>
            </a:r>
            <a:r>
              <a:rPr lang="it-IT" sz="2800" b="1" dirty="0" err="1"/>
              <a:t>Llama</a:t>
            </a:r>
            <a:r>
              <a:rPr lang="it-IT" sz="2800" b="1" dirty="0"/>
              <a:t> 3</a:t>
            </a:r>
            <a:r>
              <a:rPr lang="it-IT" sz="2800" dirty="0"/>
              <a:t>, e anche con servizi locali o custom.</a:t>
            </a:r>
          </a:p>
        </p:txBody>
      </p:sp>
    </p:spTree>
    <p:extLst>
      <p:ext uri="{BB962C8B-B14F-4D97-AF65-F5344CB8AC3E}">
        <p14:creationId xmlns:p14="http://schemas.microsoft.com/office/powerpoint/2010/main" val="745241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3777-72DF-CBCC-D057-2CA311AA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67E7DC53-16CA-4A5E-8EC6-E204A0F79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7331"/>
            <a:ext cx="4552950" cy="1581150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1C678A-94DB-BB83-898C-AA7831727525}"/>
              </a:ext>
            </a:extLst>
          </p:cNvPr>
          <p:cNvSpPr txBox="1"/>
          <p:nvPr/>
        </p:nvSpPr>
        <p:spPr>
          <a:xfrm>
            <a:off x="704850" y="1818481"/>
            <a:ext cx="106108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/>
              <a:t>🔹 </a:t>
            </a:r>
            <a:r>
              <a:rPr lang="it-IT" sz="2400" b="1" dirty="0" err="1">
                <a:latin typeface="Courier New" panose="02070309020205020404" pitchFamily="49" charset="0"/>
              </a:rPr>
              <a:t>SmartDataEntryAdapter</a:t>
            </a:r>
            <a:endParaRPr lang="it-IT" sz="2400" b="1" dirty="0"/>
          </a:p>
          <a:p>
            <a:pPr>
              <a:buNone/>
            </a:pPr>
            <a:r>
              <a:rPr lang="it-IT" sz="2400" dirty="0"/>
              <a:t>È l’adattatore AI che si occupa di </a:t>
            </a:r>
            <a:r>
              <a:rPr lang="it-IT" sz="2400" b="1" dirty="0"/>
              <a:t>arricchire i controlli di input</a:t>
            </a:r>
            <a:r>
              <a:rPr lang="it-IT" sz="2400" dirty="0"/>
              <a:t> con metadati semantici, cioè informazioni che descrivono </a:t>
            </a:r>
            <a:r>
              <a:rPr lang="it-IT" sz="2400" i="1" dirty="0"/>
              <a:t>il significato del campo</a:t>
            </a:r>
            <a:r>
              <a:rPr lang="it-IT" sz="2400" dirty="0"/>
              <a:t>, non solo il suo contenuto.</a:t>
            </a:r>
          </a:p>
          <a:p>
            <a:pPr>
              <a:buNone/>
            </a:pPr>
            <a:r>
              <a:rPr lang="it-IT" sz="2400" dirty="0"/>
              <a:t>Quando associ lo </a:t>
            </a:r>
            <a:r>
              <a:rPr lang="it-IT" sz="2400" dirty="0" err="1">
                <a:latin typeface="Courier New" panose="02070309020205020404" pitchFamily="49" charset="0"/>
              </a:rPr>
              <a:t>SmartDataEntryAdapter</a:t>
            </a:r>
            <a:r>
              <a:rPr lang="it-IT" sz="2400" dirty="0"/>
              <a:t> a un form o container, esso: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estende i controlli figli con proprietà aggiuntive (es. </a:t>
            </a:r>
            <a:r>
              <a:rPr lang="it-IT" sz="2400" dirty="0" err="1">
                <a:latin typeface="Courier New" panose="02070309020205020404" pitchFamily="49" charset="0"/>
              </a:rPr>
              <a:t>FieldName</a:t>
            </a:r>
            <a:r>
              <a:rPr lang="it-IT" sz="2400" dirty="0"/>
              <a:t>, </a:t>
            </a:r>
            <a:r>
              <a:rPr lang="it-IT" sz="2400" dirty="0" err="1">
                <a:latin typeface="Courier New" panose="02070309020205020404" pitchFamily="49" charset="0"/>
              </a:rPr>
              <a:t>FieldPrompt</a:t>
            </a:r>
            <a:r>
              <a:rPr lang="it-IT" sz="2400" dirty="0"/>
              <a:t>, </a:t>
            </a:r>
            <a:r>
              <a:rPr lang="it-IT" sz="2400" dirty="0" err="1">
                <a:latin typeface="Courier New" panose="02070309020205020404" pitchFamily="49" charset="0"/>
              </a:rPr>
              <a:t>FieldType</a:t>
            </a:r>
            <a:r>
              <a:rPr lang="it-IT" sz="2400" dirty="0"/>
              <a:t>, ecc.),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analizza i nomi, le etichette e i prompt per generare una mappa semantica del form,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permette all’AI (tramite </a:t>
            </a:r>
            <a:r>
              <a:rPr lang="it-IT" sz="2400" dirty="0" err="1"/>
              <a:t>SmartCopilot</a:t>
            </a:r>
            <a:r>
              <a:rPr lang="it-IT" sz="2400" dirty="0"/>
              <a:t> o </a:t>
            </a:r>
            <a:r>
              <a:rPr lang="it-IT" sz="2400" dirty="0" err="1"/>
              <a:t>SmartSession</a:t>
            </a:r>
            <a:r>
              <a:rPr lang="it-IT" sz="2400" dirty="0"/>
              <a:t>) di </a:t>
            </a:r>
            <a:r>
              <a:rPr lang="it-IT" sz="2400" b="1" dirty="0"/>
              <a:t>capire</a:t>
            </a:r>
            <a:r>
              <a:rPr lang="it-IT" sz="2400" dirty="0"/>
              <a:t> cosa rappresentano i campi (es. “Email”, “Numero ordine”, “Data di nascita”).</a:t>
            </a:r>
          </a:p>
        </p:txBody>
      </p:sp>
    </p:spTree>
    <p:extLst>
      <p:ext uri="{BB962C8B-B14F-4D97-AF65-F5344CB8AC3E}">
        <p14:creationId xmlns:p14="http://schemas.microsoft.com/office/powerpoint/2010/main" val="801748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B958-4267-1FE3-9221-6786FB8A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 descr="Immagine che contiene Elementi grafici, Carattere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FB91DA1F-F0F8-2E05-4199-390110AC7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237331"/>
            <a:ext cx="4552950" cy="1581150"/>
          </a:xfr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87857B-522E-BA8B-2B2B-4515D11D4C67}"/>
              </a:ext>
            </a:extLst>
          </p:cNvPr>
          <p:cNvSpPr txBox="1"/>
          <p:nvPr/>
        </p:nvSpPr>
        <p:spPr>
          <a:xfrm>
            <a:off x="695324" y="2006590"/>
            <a:ext cx="107918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dirty="0"/>
              <a:t>🔹 </a:t>
            </a:r>
            <a:r>
              <a:rPr lang="it-IT" sz="2400" b="1" dirty="0" err="1">
                <a:latin typeface="Courier New" panose="02070309020205020404" pitchFamily="49" charset="0"/>
              </a:rPr>
              <a:t>SmartHub</a:t>
            </a:r>
            <a:endParaRPr lang="it-IT" sz="2400" b="1" dirty="0"/>
          </a:p>
          <a:p>
            <a:pPr>
              <a:buNone/>
            </a:pPr>
            <a:r>
              <a:rPr lang="it-IT" sz="2400" dirty="0"/>
              <a:t>Lo </a:t>
            </a:r>
            <a:r>
              <a:rPr lang="it-IT" sz="2400" b="1" dirty="0" err="1"/>
              <a:t>SmartHub</a:t>
            </a:r>
            <a:r>
              <a:rPr lang="it-IT" sz="2400" dirty="0"/>
              <a:t>, invece, </a:t>
            </a:r>
            <a:r>
              <a:rPr lang="it-IT" sz="2400" b="1" dirty="0"/>
              <a:t>non aggiunge proprietà ai controlli</a:t>
            </a:r>
            <a:r>
              <a:rPr lang="it-IT" sz="2400" dirty="0"/>
              <a:t>.</a:t>
            </a:r>
            <a:br>
              <a:rPr lang="it-IT" sz="2400" dirty="0"/>
            </a:br>
            <a:r>
              <a:rPr lang="it-IT" sz="2400" dirty="0"/>
              <a:t>Il suo ruolo è </a:t>
            </a:r>
            <a:r>
              <a:rPr lang="it-IT" sz="2400" b="1" dirty="0"/>
              <a:t>coordinare e orchestrare</a:t>
            </a:r>
            <a:r>
              <a:rPr lang="it-IT" sz="2400" dirty="0"/>
              <a:t> le comunicazioni tra: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sessioni AI (</a:t>
            </a:r>
            <a:r>
              <a:rPr lang="it-IT" sz="2400" dirty="0" err="1">
                <a:latin typeface="Courier New" panose="02070309020205020404" pitchFamily="49" charset="0"/>
              </a:rPr>
              <a:t>SmartSession</a:t>
            </a:r>
            <a:r>
              <a:rPr lang="it-IT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adattatori attivi (</a:t>
            </a:r>
            <a:r>
              <a:rPr lang="it-IT" sz="2400" dirty="0" err="1">
                <a:latin typeface="Courier New" panose="02070309020205020404" pitchFamily="49" charset="0"/>
              </a:rPr>
              <a:t>SmartChatBoxAdapter</a:t>
            </a:r>
            <a:r>
              <a:rPr lang="it-IT" sz="2400" dirty="0"/>
              <a:t>, </a:t>
            </a:r>
            <a:r>
              <a:rPr lang="it-IT" sz="2400" dirty="0" err="1">
                <a:latin typeface="Courier New" panose="02070309020205020404" pitchFamily="49" charset="0"/>
              </a:rPr>
              <a:t>SmartCopilotAdapter</a:t>
            </a:r>
            <a:r>
              <a:rPr lang="it-IT" sz="2400" dirty="0"/>
              <a:t>, ecc.)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strumenti (</a:t>
            </a:r>
            <a:r>
              <a:rPr lang="it-IT" sz="2400" dirty="0" err="1">
                <a:latin typeface="Courier New" panose="02070309020205020404" pitchFamily="49" charset="0"/>
              </a:rPr>
              <a:t>SmartTool</a:t>
            </a:r>
            <a:r>
              <a:rPr lang="it-IT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modelli o provider AI configurati.</a:t>
            </a:r>
          </a:p>
          <a:p>
            <a:pPr>
              <a:buNone/>
            </a:pPr>
            <a:r>
              <a:rPr lang="it-IT" sz="2400" dirty="0"/>
              <a:t>In altre parole:</a:t>
            </a:r>
          </a:p>
          <a:p>
            <a:pPr>
              <a:buNone/>
            </a:pPr>
            <a:r>
              <a:rPr lang="it-IT" sz="2400" dirty="0"/>
              <a:t>🔧 </a:t>
            </a:r>
            <a:r>
              <a:rPr lang="it-IT" sz="2400" b="1" dirty="0" err="1"/>
              <a:t>SmartDataEntryAdapter</a:t>
            </a:r>
            <a:r>
              <a:rPr lang="it-IT" sz="2400" b="1" dirty="0"/>
              <a:t> arricchisce i controlli.</a:t>
            </a:r>
            <a:br>
              <a:rPr lang="it-IT" sz="2400" dirty="0"/>
            </a:br>
            <a:r>
              <a:rPr lang="it-IT" sz="2400" dirty="0"/>
              <a:t>🧠 </a:t>
            </a:r>
            <a:r>
              <a:rPr lang="it-IT" sz="2400" b="1" dirty="0" err="1"/>
              <a:t>SmartHub</a:t>
            </a:r>
            <a:r>
              <a:rPr lang="it-IT" sz="2400" b="1" dirty="0"/>
              <a:t> gestisce le connessioni e le sessioni AI.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89169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AB3E3E4-19A7-E2E9-CF4D-976965713F29}"/>
              </a:ext>
            </a:extLst>
          </p:cNvPr>
          <p:cNvSpPr txBox="1"/>
          <p:nvPr/>
        </p:nvSpPr>
        <p:spPr>
          <a:xfrm>
            <a:off x="2296561" y="707110"/>
            <a:ext cx="9454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</a:rPr>
              <a:t>Licensing</a:t>
            </a: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91EF9F97-F069-19D2-9BAB-E880A140D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314408"/>
            <a:ext cx="1512964" cy="169373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16AC0B-D444-36B5-F802-A160618AE22D}"/>
              </a:ext>
            </a:extLst>
          </p:cNvPr>
          <p:cNvSpPr txBox="1"/>
          <p:nvPr/>
        </p:nvSpPr>
        <p:spPr>
          <a:xfrm>
            <a:off x="2296561" y="1143195"/>
            <a:ext cx="7598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https://wisej.com/developer-licenses/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26D09A9-6525-106E-4B61-96FA638C9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01" y="2103613"/>
            <a:ext cx="8446401" cy="40757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5974CA2E-C375-71EF-8B82-D245E80E886E}"/>
                  </a:ext>
                </a:extLst>
              </p14:cNvPr>
              <p14:cNvContentPartPr/>
              <p14:nvPr/>
            </p14:nvContentPartPr>
            <p14:xfrm>
              <a:off x="6312932" y="2057001"/>
              <a:ext cx="1641240" cy="412236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5974CA2E-C375-71EF-8B82-D245E80E88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8932" y="1949001"/>
                <a:ext cx="1748880" cy="433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863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6557-94BF-8166-A771-28455DC5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51049B-4154-D756-3791-345328CF3736}"/>
              </a:ext>
            </a:extLst>
          </p:cNvPr>
          <p:cNvSpPr txBox="1"/>
          <p:nvPr/>
        </p:nvSpPr>
        <p:spPr>
          <a:xfrm>
            <a:off x="2296561" y="707110"/>
            <a:ext cx="9454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</a:rPr>
              <a:t>Licensing</a:t>
            </a: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C2E3F1A5-6EDF-6EE1-1BFB-C2707EC28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314408"/>
            <a:ext cx="1512964" cy="169373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C452C1D-4789-E6EA-D7D4-7307E5A33C01}"/>
              </a:ext>
            </a:extLst>
          </p:cNvPr>
          <p:cNvSpPr txBox="1"/>
          <p:nvPr/>
        </p:nvSpPr>
        <p:spPr>
          <a:xfrm>
            <a:off x="2296561" y="1143195"/>
            <a:ext cx="7598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rgbClr val="7030A0"/>
                </a:solidFill>
              </a:rPr>
              <a:t>https://wisej.com/developer-licenses/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5F7A4F5-1C33-A40D-CC1B-7F1ECCD3C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094792"/>
            <a:ext cx="10210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07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67D287-61E8-5480-E50C-A1997E7BDFC6}"/>
              </a:ext>
            </a:extLst>
          </p:cNvPr>
          <p:cNvSpPr txBox="1"/>
          <p:nvPr/>
        </p:nvSpPr>
        <p:spPr>
          <a:xfrm>
            <a:off x="2207064" y="768310"/>
            <a:ext cx="94548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/>
              <a:t>Requisiti</a:t>
            </a:r>
            <a:r>
              <a:rPr lang="en-US" sz="4000" b="1" dirty="0"/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d’uso</a:t>
            </a:r>
            <a:endParaRPr lang="en-US" sz="4000" b="1" dirty="0">
              <a:solidFill>
                <a:srgbClr val="7030A0"/>
              </a:solidFill>
              <a:effectLst/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561AC9EB-FD69-15EC-6704-C07FF0AC5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275386"/>
            <a:ext cx="1512964" cy="169373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9D2457-B20C-0440-7A11-A7B5E5B48F3A}"/>
              </a:ext>
            </a:extLst>
          </p:cNvPr>
          <p:cNvSpPr txBox="1"/>
          <p:nvPr/>
        </p:nvSpPr>
        <p:spPr>
          <a:xfrm>
            <a:off x="928075" y="2141226"/>
            <a:ext cx="1033584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7030A0"/>
                </a:solidFill>
              </a:rPr>
              <a:t>Ambiente</a:t>
            </a:r>
            <a:r>
              <a:rPr lang="en-US" sz="2800" b="1" dirty="0">
                <a:solidFill>
                  <a:srgbClr val="7030A0"/>
                </a:solidFill>
              </a:rPr>
              <a:t> di Sviluppo </a:t>
            </a:r>
          </a:p>
          <a:p>
            <a:r>
              <a:rPr lang="en-US" sz="2800" b="1" dirty="0"/>
              <a:t>	.NETFX 4.8 o </a:t>
            </a:r>
            <a:r>
              <a:rPr lang="en-US" sz="2800" b="1" dirty="0" err="1"/>
              <a:t>superiore</a:t>
            </a:r>
            <a:r>
              <a:rPr lang="en-US" sz="2800" b="1" dirty="0"/>
              <a:t>, .NET 8 o </a:t>
            </a:r>
            <a:r>
              <a:rPr lang="en-US" sz="2800" b="1" dirty="0" err="1"/>
              <a:t>superiore</a:t>
            </a:r>
            <a:r>
              <a:rPr lang="en-US" sz="2800" b="1" dirty="0"/>
              <a:t>;</a:t>
            </a:r>
          </a:p>
          <a:p>
            <a:r>
              <a:rPr lang="en-US" sz="2800" b="1" dirty="0">
                <a:effectLst/>
              </a:rPr>
              <a:t>	Visual Studio 2019*</a:t>
            </a:r>
            <a:r>
              <a:rPr lang="en-US" sz="2800" b="1" dirty="0"/>
              <a:t>, </a:t>
            </a:r>
            <a:r>
              <a:rPr lang="en-US" sz="2800" b="1" dirty="0">
                <a:effectLst/>
              </a:rPr>
              <a:t>2022</a:t>
            </a:r>
            <a:r>
              <a:rPr lang="en-US" sz="2800" b="1" dirty="0"/>
              <a:t>, 2026;</a:t>
            </a:r>
            <a:endParaRPr lang="en-US" sz="2800" b="1" dirty="0">
              <a:effectLst/>
            </a:endParaRPr>
          </a:p>
          <a:p>
            <a:r>
              <a:rPr lang="en-US" sz="2800" b="1" dirty="0"/>
              <a:t>	Windows 10/11 – Windows Server 2019/2022/2025</a:t>
            </a:r>
            <a:br>
              <a:rPr lang="en-US" sz="2800" b="1" dirty="0"/>
            </a:br>
            <a:r>
              <a:rPr lang="en-US" sz="1600" b="1" dirty="0"/>
              <a:t>	* solo </a:t>
            </a:r>
            <a:r>
              <a:rPr lang="en-US" sz="1600" b="1" dirty="0" err="1"/>
              <a:t>versione</a:t>
            </a:r>
            <a:r>
              <a:rPr lang="en-US" sz="1600" b="1" dirty="0"/>
              <a:t> Wisej.NET 3.5</a:t>
            </a:r>
            <a:endParaRPr lang="en-US" sz="2800" b="1" dirty="0">
              <a:effectLst/>
            </a:endParaRPr>
          </a:p>
          <a:p>
            <a:r>
              <a:rPr lang="en-US" sz="2800" b="1" dirty="0" err="1">
                <a:solidFill>
                  <a:srgbClr val="7030A0"/>
                </a:solidFill>
              </a:rPr>
              <a:t>Ambiente</a:t>
            </a:r>
            <a:r>
              <a:rPr lang="en-US" sz="2800" b="1" dirty="0">
                <a:solidFill>
                  <a:srgbClr val="7030A0"/>
                </a:solidFill>
              </a:rPr>
              <a:t> Runtime</a:t>
            </a: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/>
              <a:t>	Windows .NETFX 4.8 o </a:t>
            </a:r>
            <a:r>
              <a:rPr lang="en-US" sz="2800" b="1" dirty="0" err="1"/>
              <a:t>superiore</a:t>
            </a:r>
            <a:r>
              <a:rPr lang="en-US" sz="2800" b="1" dirty="0"/>
              <a:t> per target .NETFX, OS 	</a:t>
            </a:r>
            <a:r>
              <a:rPr lang="en-US" sz="2800" b="1" dirty="0" err="1"/>
              <a:t>supportato</a:t>
            </a:r>
            <a:r>
              <a:rPr lang="en-US" sz="2800" b="1" dirty="0"/>
              <a:t> da ASP</a:t>
            </a:r>
            <a:r>
              <a:rPr lang="en-US" sz="2800" b="1" dirty="0">
                <a:effectLst/>
              </a:rPr>
              <a:t>.NE</a:t>
            </a:r>
            <a:r>
              <a:rPr lang="en-US" sz="2800" b="1" dirty="0"/>
              <a:t>T 8 o </a:t>
            </a:r>
            <a:r>
              <a:rPr lang="en-US" sz="2800" b="1" dirty="0" err="1"/>
              <a:t>superiore</a:t>
            </a:r>
            <a:r>
              <a:rPr lang="en-US" sz="2800" b="1" dirty="0"/>
              <a:t> per target .NET</a:t>
            </a:r>
            <a:endParaRPr lang="en-US" sz="28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503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15FA-DC43-6210-1BFB-9BD99CD0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04D74B3-6023-8C49-E792-D9CFD97C2A04}"/>
              </a:ext>
            </a:extLst>
          </p:cNvPr>
          <p:cNvSpPr txBox="1"/>
          <p:nvPr/>
        </p:nvSpPr>
        <p:spPr>
          <a:xfrm>
            <a:off x="2207064" y="768310"/>
            <a:ext cx="94548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/>
              <a:t>Installazione</a:t>
            </a:r>
            <a:r>
              <a:rPr lang="en-US" sz="4000" b="1" dirty="0"/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ambiente</a:t>
            </a:r>
            <a:r>
              <a:rPr lang="en-US" sz="4000" b="1" dirty="0">
                <a:solidFill>
                  <a:srgbClr val="7030A0"/>
                </a:solidFill>
              </a:rPr>
              <a:t> di </a:t>
            </a:r>
            <a:r>
              <a:rPr lang="en-US" sz="4000" b="1" dirty="0" err="1">
                <a:solidFill>
                  <a:srgbClr val="7030A0"/>
                </a:solidFill>
              </a:rPr>
              <a:t>sviluppo</a:t>
            </a:r>
            <a:endParaRPr lang="en-US" sz="4000" b="1" dirty="0">
              <a:solidFill>
                <a:srgbClr val="7030A0"/>
              </a:solidFill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767E873A-BD72-20FD-6A48-F8AD975F0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275386"/>
            <a:ext cx="1512964" cy="169373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F6FA8D-3D67-8486-227C-822F73693CF8}"/>
              </a:ext>
            </a:extLst>
          </p:cNvPr>
          <p:cNvSpPr txBox="1"/>
          <p:nvPr/>
        </p:nvSpPr>
        <p:spPr>
          <a:xfrm>
            <a:off x="518964" y="1902445"/>
            <a:ext cx="111540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Scaricare</a:t>
            </a:r>
            <a:r>
              <a:rPr lang="en-US" sz="2800" b="1" dirty="0"/>
              <a:t> ed </a:t>
            </a:r>
            <a:r>
              <a:rPr lang="en-US" sz="2800" b="1" dirty="0" err="1"/>
              <a:t>installare</a:t>
            </a:r>
            <a:r>
              <a:rPr lang="en-US" sz="2800" b="1" dirty="0"/>
              <a:t> Designer Wisej.NET 2019 o 2022*</a:t>
            </a:r>
          </a:p>
          <a:p>
            <a:r>
              <a:rPr lang="en-US" sz="1600" dirty="0"/>
              <a:t>* Il designer 2022 è </a:t>
            </a:r>
            <a:r>
              <a:rPr lang="en-US" sz="1600" dirty="0" err="1"/>
              <a:t>compatibile</a:t>
            </a:r>
            <a:r>
              <a:rPr lang="en-US" sz="1600" dirty="0"/>
              <a:t> con Visual Studio 2026</a:t>
            </a:r>
            <a:endParaRPr lang="en-US" sz="1600" dirty="0">
              <a:effectLst/>
            </a:endParaRPr>
          </a:p>
          <a:p>
            <a:r>
              <a:rPr lang="en-US" sz="2800" b="1" dirty="0"/>
              <a:t>1) Da Visual Studio Market Place</a:t>
            </a:r>
          </a:p>
          <a:p>
            <a:r>
              <a:rPr lang="en-US" sz="2800" b="1" dirty="0">
                <a:effectLst/>
              </a:rPr>
              <a:t>2) Dal </a:t>
            </a:r>
            <a:r>
              <a:rPr lang="en-US" sz="2800" b="1" dirty="0" err="1">
                <a:effectLst/>
              </a:rPr>
              <a:t>sito</a:t>
            </a:r>
            <a:r>
              <a:rPr lang="en-US" sz="2800" b="1" dirty="0">
                <a:effectLst/>
              </a:rPr>
              <a:t> </a:t>
            </a:r>
            <a:r>
              <a:rPr lang="en-US" sz="2800" b="1" dirty="0" err="1">
                <a:effectLst/>
              </a:rPr>
              <a:t>Wisej</a:t>
            </a:r>
            <a:r>
              <a:rPr lang="en-US" sz="2800" b="1" dirty="0" err="1"/>
              <a:t>.Com</a:t>
            </a:r>
            <a:r>
              <a:rPr lang="en-US" sz="2800" b="1" dirty="0"/>
              <a:t>  - https://wisej.com/builds/</a:t>
            </a:r>
            <a:br>
              <a:rPr lang="en-US" sz="2800" b="1" dirty="0"/>
            </a:br>
            <a:r>
              <a:rPr lang="en-US" sz="2800" b="1" dirty="0"/>
              <a:t>	</a:t>
            </a:r>
            <a:endParaRPr lang="en-US" sz="2800" b="1" dirty="0">
              <a:effectLst/>
            </a:endParaRPr>
          </a:p>
          <a:p>
            <a:endParaRPr lang="en-US" sz="2800" b="1" dirty="0">
              <a:effectLst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0B22A62-AC02-2E17-9873-4CE33BAD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841" y="3634899"/>
            <a:ext cx="8997936" cy="249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38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EBB3A-8310-D84D-F9D4-C6DC99AB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E1C06D-320D-C01E-BEBB-B4F090DDFFCC}"/>
              </a:ext>
            </a:extLst>
          </p:cNvPr>
          <p:cNvSpPr txBox="1"/>
          <p:nvPr/>
        </p:nvSpPr>
        <p:spPr>
          <a:xfrm>
            <a:off x="2207064" y="768310"/>
            <a:ext cx="94548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/>
              <a:t>Installazione</a:t>
            </a:r>
            <a:r>
              <a:rPr lang="en-US" sz="4000" b="1" dirty="0"/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ambiente</a:t>
            </a:r>
            <a:r>
              <a:rPr lang="en-US" sz="4000" b="1" dirty="0">
                <a:solidFill>
                  <a:srgbClr val="7030A0"/>
                </a:solidFill>
              </a:rPr>
              <a:t> di </a:t>
            </a:r>
            <a:r>
              <a:rPr lang="en-US" sz="4000" b="1" dirty="0" err="1">
                <a:solidFill>
                  <a:srgbClr val="7030A0"/>
                </a:solidFill>
              </a:rPr>
              <a:t>sviluppo</a:t>
            </a:r>
            <a:endParaRPr lang="en-US" sz="4000" b="1" dirty="0">
              <a:solidFill>
                <a:srgbClr val="7030A0"/>
              </a:solidFill>
            </a:endParaRPr>
          </a:p>
        </p:txBody>
      </p:sp>
      <p:pic>
        <p:nvPicPr>
          <p:cNvPr id="5" name="Immagine 4" descr="Immagine che contiene Elementi grafici, grafica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3254AF9F-6E48-C65D-A819-1C9862EAA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0" y="275386"/>
            <a:ext cx="1512964" cy="169373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F28EC04-FC9B-26DA-B875-25940BD05A78}"/>
              </a:ext>
            </a:extLst>
          </p:cNvPr>
          <p:cNvSpPr txBox="1"/>
          <p:nvPr/>
        </p:nvSpPr>
        <p:spPr>
          <a:xfrm>
            <a:off x="694100" y="1999712"/>
            <a:ext cx="111540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Via Web: </a:t>
            </a:r>
            <a:r>
              <a:rPr lang="en-US" sz="2800" b="1" dirty="0" err="1"/>
              <a:t>scaricare</a:t>
            </a:r>
            <a:r>
              <a:rPr lang="en-US" sz="2800" b="1" dirty="0"/>
              <a:t> ed </a:t>
            </a:r>
            <a:r>
              <a:rPr lang="en-US" sz="2800" b="1" dirty="0" err="1"/>
              <a:t>installare</a:t>
            </a:r>
            <a:r>
              <a:rPr lang="en-US" sz="2800" b="1" dirty="0"/>
              <a:t> il Package </a:t>
            </a:r>
            <a:r>
              <a:rPr lang="en-US" sz="2800" b="1" dirty="0" err="1"/>
              <a:t>NuGET</a:t>
            </a:r>
            <a:r>
              <a:rPr lang="en-US" sz="2800" b="1" dirty="0"/>
              <a:t> </a:t>
            </a:r>
            <a:r>
              <a:rPr lang="en-US" sz="2800" b="1" dirty="0" err="1"/>
              <a:t>desiderato</a:t>
            </a:r>
            <a:br>
              <a:rPr lang="en-US" sz="2800" b="1" dirty="0"/>
            </a:br>
            <a:r>
              <a:rPr lang="en-US" sz="2800" b="1" dirty="0">
                <a:hlinkClick r:id="rId3"/>
              </a:rPr>
              <a:t>https://www.nuget.org/packages/Wisej-3</a:t>
            </a:r>
            <a:r>
              <a:rPr lang="en-US" sz="2800" b="1" dirty="0"/>
              <a:t> o</a:t>
            </a:r>
          </a:p>
          <a:p>
            <a:r>
              <a:rPr lang="en-US" sz="2800" b="1" dirty="0"/>
              <a:t>https://www.nuget.org/packages/Wisej-4</a:t>
            </a:r>
          </a:p>
          <a:p>
            <a:endParaRPr lang="en-US" sz="2800" b="1" dirty="0"/>
          </a:p>
          <a:p>
            <a:br>
              <a:rPr lang="en-US" sz="2800" b="1" dirty="0"/>
            </a:br>
            <a:endParaRPr lang="en-US" sz="2800" b="1" dirty="0"/>
          </a:p>
          <a:p>
            <a:endParaRPr lang="en-US" sz="2800" b="1" dirty="0">
              <a:effectLst/>
            </a:endParaRPr>
          </a:p>
          <a:p>
            <a:r>
              <a:rPr lang="en-US" sz="2800" b="1" dirty="0"/>
              <a:t>	</a:t>
            </a:r>
            <a:endParaRPr lang="en-US" sz="2800" b="1" dirty="0">
              <a:effectLst/>
            </a:endParaRPr>
          </a:p>
          <a:p>
            <a:endParaRPr lang="en-US" sz="2800" b="1" dirty="0">
              <a:effectLst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A2C219D-E943-909E-BB74-900014220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02" y="3346490"/>
            <a:ext cx="93535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86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62D1AF-D8C5-9114-5AD3-6F35985E8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9391"/>
            <a:ext cx="9144000" cy="2387600"/>
          </a:xfrm>
        </p:spPr>
        <p:txBody>
          <a:bodyPr/>
          <a:lstStyle/>
          <a:p>
            <a:r>
              <a:rPr lang="it-IT" dirty="0" err="1"/>
              <a:t>Passero.Framework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F7EB67D-FDAB-B67B-89E2-3FF8B4E99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6991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it-IT" sz="3200" dirty="0"/>
              <a:t>Un Framework in tecnologia .NET per lo sviluppo di applicazioni gestionali WEB </a:t>
            </a:r>
            <a:r>
              <a:rPr lang="it-IT" sz="3200" dirty="0" err="1"/>
              <a:t>realtime</a:t>
            </a:r>
            <a:r>
              <a:rPr lang="it-IT" sz="3200" dirty="0"/>
              <a:t> (SPA) che usa Wisej.NET, il Pattern MVVM (Model, </a:t>
            </a:r>
            <a:r>
              <a:rPr lang="it-IT" sz="3200" dirty="0" err="1"/>
              <a:t>View</a:t>
            </a:r>
            <a:r>
              <a:rPr lang="it-IT" sz="3200" dirty="0"/>
              <a:t>, </a:t>
            </a:r>
            <a:r>
              <a:rPr lang="it-IT" sz="3200" dirty="0" err="1"/>
              <a:t>ViewModel</a:t>
            </a:r>
            <a:r>
              <a:rPr lang="it-IT" sz="3200" dirty="0"/>
              <a:t> e Repository) ed il </a:t>
            </a:r>
            <a:r>
              <a:rPr lang="it-IT" sz="3200" dirty="0" err="1"/>
              <a:t>MicroORM</a:t>
            </a:r>
            <a:r>
              <a:rPr lang="it-IT" sz="3200" dirty="0"/>
              <a:t> </a:t>
            </a:r>
            <a:r>
              <a:rPr lang="it-IT" sz="3200" dirty="0" err="1"/>
              <a:t>Dapper</a:t>
            </a:r>
            <a:r>
              <a:rPr lang="it-IT" sz="3200" dirty="0"/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B2D6E06-287D-3E6B-8614-A657B9860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687" y="790391"/>
            <a:ext cx="19526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27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382F32-F769-3748-8FAF-0CB21EE7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740"/>
            <a:ext cx="10515600" cy="1325563"/>
          </a:xfrm>
        </p:spPr>
        <p:txBody>
          <a:bodyPr/>
          <a:lstStyle/>
          <a:p>
            <a:r>
              <a:rPr lang="it-IT" dirty="0"/>
              <a:t>I pilastri di </a:t>
            </a:r>
            <a:r>
              <a:rPr lang="it-IT" dirty="0" err="1"/>
              <a:t>Passero.Framework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5FB56F-B46B-BF29-1472-3E5A12F4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24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Microsoft .NET e Microsoft Visual Studio (quello vero);</a:t>
            </a:r>
          </a:p>
          <a:p>
            <a:r>
              <a:rPr lang="it-IT" dirty="0"/>
              <a:t>Usa Wisej.NET per lo sviluppo delle applicazioni WEB  real-time capaci di funzionare su browser (desktop, tablet e smartphone) usando un modello semplice, potente e collaudato per lo sviluppo di applicazioni LOB (Line-Of-Business);</a:t>
            </a:r>
          </a:p>
          <a:p>
            <a:r>
              <a:rPr lang="it-IT" dirty="0"/>
              <a:t>Usa il Pattern Architetturale MVVM per uno sviluppo ottimale delle varie parti dell’applicazione;</a:t>
            </a:r>
          </a:p>
          <a:p>
            <a:r>
              <a:rPr lang="it-IT" dirty="0"/>
              <a:t>Usa il </a:t>
            </a:r>
            <a:r>
              <a:rPr lang="it-IT" dirty="0" err="1"/>
              <a:t>MicroORM</a:t>
            </a:r>
            <a:r>
              <a:rPr lang="it-IT" dirty="0"/>
              <a:t> </a:t>
            </a:r>
            <a:r>
              <a:rPr lang="it-IT" dirty="0" err="1"/>
              <a:t>Dapper</a:t>
            </a:r>
            <a:r>
              <a:rPr lang="it-IT" dirty="0"/>
              <a:t> per l’accesso ai dati e lo estende con funzionalità avanzate;</a:t>
            </a:r>
          </a:p>
          <a:p>
            <a:r>
              <a:rPr lang="it-IT" dirty="0"/>
              <a:t>Usa Microsoft Reporting Services o </a:t>
            </a:r>
            <a:r>
              <a:rPr lang="it-IT" dirty="0" err="1"/>
              <a:t>FastReport</a:t>
            </a:r>
            <a:r>
              <a:rPr lang="it-IT" dirty="0"/>
              <a:t> per la parte di reportistica con le medesime funzionalità sia in .NET Framework che .NET.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9135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DAA93E1A-21EB-A0EB-7CE0-194A478EC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42" y="1599122"/>
            <a:ext cx="4783100" cy="38201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72284B56-39A5-18C9-E830-BC72A5FE9BD4}"/>
              </a:ext>
            </a:extLst>
          </p:cNvPr>
          <p:cNvSpPr txBox="1">
            <a:spLocks/>
          </p:cNvSpPr>
          <p:nvPr/>
        </p:nvSpPr>
        <p:spPr>
          <a:xfrm>
            <a:off x="5645791" y="1364231"/>
            <a:ext cx="5691231" cy="5296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FF0066"/>
                </a:solidFill>
              </a:rPr>
              <a:t>MODEL</a:t>
            </a:r>
            <a:r>
              <a:rPr lang="it-IT" dirty="0"/>
              <a:t> contiene la definizione dei dati;</a:t>
            </a:r>
          </a:p>
          <a:p>
            <a:r>
              <a:rPr lang="it-IT" b="1" dirty="0">
                <a:highlight>
                  <a:srgbClr val="FF0000"/>
                </a:highlight>
              </a:rPr>
              <a:t>VIEW</a:t>
            </a:r>
            <a:r>
              <a:rPr lang="it-IT" dirty="0"/>
              <a:t> contiene l’interfaccia utente;</a:t>
            </a:r>
          </a:p>
          <a:p>
            <a:r>
              <a:rPr lang="it-IT" dirty="0">
                <a:highlight>
                  <a:srgbClr val="FFFF00"/>
                </a:highlight>
              </a:rPr>
              <a:t>VIEWMODEL</a:t>
            </a:r>
            <a:r>
              <a:rPr lang="it-IT" dirty="0"/>
              <a:t> contiene la logica di gestione dei dati del MODEL e risponde alle richieste della VIEW</a:t>
            </a:r>
          </a:p>
          <a:p>
            <a:r>
              <a:rPr lang="it-IT" dirty="0">
                <a:highlight>
                  <a:srgbClr val="00FF00"/>
                </a:highlight>
              </a:rPr>
              <a:t>REPOSITORY</a:t>
            </a:r>
            <a:r>
              <a:rPr lang="it-IT" dirty="0"/>
              <a:t> esegue fisicamente le operazioni di scrittura/lettura dei dati nel MODEL da e verso le </a:t>
            </a:r>
            <a:r>
              <a:rPr lang="it-IT" dirty="0">
                <a:highlight>
                  <a:srgbClr val="00FF00"/>
                </a:highlight>
              </a:rPr>
              <a:t>SORGENTI DATI </a:t>
            </a:r>
            <a:r>
              <a:rPr lang="it-IT" dirty="0"/>
              <a:t>(locali e remote)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59CFCAE7-1655-8CFB-717A-99ACC74CD060}"/>
              </a:ext>
            </a:extLst>
          </p:cNvPr>
          <p:cNvGrpSpPr/>
          <p:nvPr/>
        </p:nvGrpSpPr>
        <p:grpSpPr>
          <a:xfrm>
            <a:off x="288929" y="0"/>
            <a:ext cx="11745002" cy="676095"/>
            <a:chOff x="288929" y="0"/>
            <a:chExt cx="11745002" cy="676095"/>
          </a:xfrm>
        </p:grpSpPr>
        <p:sp>
          <p:nvSpPr>
            <p:cNvPr id="10" name="Titolo 1">
              <a:extLst>
                <a:ext uri="{FF2B5EF4-FFF2-40B4-BE49-F238E27FC236}">
                  <a16:creationId xmlns:a16="http://schemas.microsoft.com/office/drawing/2014/main" id="{9B3713B8-D395-051B-C137-F0F526413109}"/>
                </a:ext>
              </a:extLst>
            </p:cNvPr>
            <p:cNvSpPr txBox="1">
              <a:spLocks/>
            </p:cNvSpPr>
            <p:nvPr/>
          </p:nvSpPr>
          <p:spPr>
            <a:xfrm>
              <a:off x="8476488" y="137345"/>
              <a:ext cx="3557443" cy="44256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it-IT" sz="2800" b="1" dirty="0" err="1"/>
                <a:t>Passero.Framework</a:t>
              </a:r>
              <a:endParaRPr lang="it-IT" sz="2800" b="1" dirty="0"/>
            </a:p>
          </p:txBody>
        </p:sp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9444A60C-F4D9-3559-6E00-20C1804A1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8871" y="0"/>
              <a:ext cx="792092" cy="506166"/>
            </a:xfrm>
            <a:prstGeom prst="rect">
              <a:avLst/>
            </a:prstGeom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0B3396AA-70BC-50E6-C222-7ED46AD30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929" y="125074"/>
              <a:ext cx="792092" cy="5510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8294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F78D13-64CF-D2FB-2207-F8B47525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728" y="2766218"/>
            <a:ext cx="6778752" cy="1325563"/>
          </a:xfrm>
        </p:spPr>
        <p:txBody>
          <a:bodyPr/>
          <a:lstStyle/>
          <a:p>
            <a:r>
              <a:rPr lang="it-IT" dirty="0"/>
              <a:t>Ed ora passiamo al pratico…</a:t>
            </a:r>
          </a:p>
        </p:txBody>
      </p:sp>
    </p:spTree>
    <p:extLst>
      <p:ext uri="{BB962C8B-B14F-4D97-AF65-F5344CB8AC3E}">
        <p14:creationId xmlns:p14="http://schemas.microsoft.com/office/powerpoint/2010/main" val="4226131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BEB3A-674C-4DA9-7CE8-542576D9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 codice: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CBF0D0-D6C6-E19F-4725-2D6C82BA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Una applicazione Wisej.NET di base e le basi dell’ambiente di sviluppo;</a:t>
            </a:r>
          </a:p>
          <a:p>
            <a:r>
              <a:rPr lang="it-IT" dirty="0"/>
              <a:t>L’interazione fra mondo server e mondo client (si, potete usare JavaScript, HTML e CSS);</a:t>
            </a:r>
          </a:p>
          <a:p>
            <a:r>
              <a:rPr lang="it-IT" dirty="0" err="1"/>
              <a:t>Passero.Framework</a:t>
            </a:r>
            <a:r>
              <a:rPr lang="it-IT" dirty="0"/>
              <a:t>, il mondo MVVM in Wisej.NET</a:t>
            </a:r>
          </a:p>
          <a:p>
            <a:pPr lvl="1"/>
            <a:r>
              <a:rPr lang="it-IT" dirty="0" err="1"/>
              <a:t>PubsDemo</a:t>
            </a:r>
            <a:r>
              <a:rPr lang="it-IT" dirty="0"/>
              <a:t>, </a:t>
            </a:r>
            <a:r>
              <a:rPr lang="it-IT" dirty="0" err="1"/>
              <a:t>HotelDemo</a:t>
            </a:r>
            <a:r>
              <a:rPr lang="it-IT" dirty="0"/>
              <a:t> + </a:t>
            </a:r>
            <a:r>
              <a:rPr lang="it-IT" dirty="0" err="1"/>
              <a:t>HotelDemo</a:t>
            </a:r>
            <a:r>
              <a:rPr lang="it-IT" dirty="0"/>
              <a:t> </a:t>
            </a:r>
            <a:r>
              <a:rPr lang="it-IT" dirty="0" err="1"/>
              <a:t>Hybrid</a:t>
            </a:r>
            <a:endParaRPr lang="it-IT" dirty="0"/>
          </a:p>
          <a:p>
            <a:r>
              <a:rPr lang="it-IT" dirty="0"/>
              <a:t>Uso dell’AI e di GitHub </a:t>
            </a:r>
            <a:r>
              <a:rPr lang="it-IT" dirty="0" err="1"/>
              <a:t>Copilot</a:t>
            </a:r>
            <a:r>
              <a:rPr lang="it-IT" dirty="0"/>
              <a:t> per la migrazione di applicazioni VB6.</a:t>
            </a:r>
          </a:p>
          <a:p>
            <a:r>
              <a:rPr lang="it-IT" dirty="0"/>
              <a:t>Wisej.AI;</a:t>
            </a:r>
          </a:p>
          <a:p>
            <a:r>
              <a:rPr lang="it-IT" dirty="0"/>
              <a:t>SharePoint SPFX;</a:t>
            </a:r>
          </a:p>
        </p:txBody>
      </p:sp>
    </p:spTree>
    <p:extLst>
      <p:ext uri="{BB962C8B-B14F-4D97-AF65-F5344CB8AC3E}">
        <p14:creationId xmlns:p14="http://schemas.microsoft.com/office/powerpoint/2010/main" val="1488207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726CD0-106A-C5BB-B3A5-0B1551E5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Materiale Demo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9DCB54-CE65-AC1D-CD9C-963912E10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demo (escluse quelle relative a Wisej.AI) le trovate su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/>
              <a:t>https</a:t>
            </a:r>
            <a:r>
              <a:rPr lang="it-IT" dirty="0"/>
              <a:t>://github.com/gdelgiovine/NETCONF2005</a:t>
            </a:r>
          </a:p>
        </p:txBody>
      </p:sp>
    </p:spTree>
    <p:extLst>
      <p:ext uri="{BB962C8B-B14F-4D97-AF65-F5344CB8AC3E}">
        <p14:creationId xmlns:p14="http://schemas.microsoft.com/office/powerpoint/2010/main" val="1097886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8F5CB2-72F3-9C5C-C69B-904C0AEA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368" y="2373026"/>
            <a:ext cx="3703320" cy="2665318"/>
          </a:xfrm>
        </p:spPr>
        <p:txBody>
          <a:bodyPr>
            <a:normAutofit/>
          </a:bodyPr>
          <a:lstStyle/>
          <a:p>
            <a:pPr algn="ctr"/>
            <a:r>
              <a:rPr lang="it-IT" sz="8000" dirty="0"/>
              <a:t>Q </a:t>
            </a:r>
            <a:r>
              <a:rPr lang="it-IT" sz="4800" dirty="0"/>
              <a:t>&amp;</a:t>
            </a:r>
            <a:r>
              <a:rPr lang="it-IT" sz="8000" dirty="0"/>
              <a:t> A </a:t>
            </a:r>
          </a:p>
        </p:txBody>
      </p:sp>
    </p:spTree>
    <p:extLst>
      <p:ext uri="{BB962C8B-B14F-4D97-AF65-F5344CB8AC3E}">
        <p14:creationId xmlns:p14="http://schemas.microsoft.com/office/powerpoint/2010/main" val="3417284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73ED6F-5E16-27CE-ECB8-12371643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2755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GRAZIE PER LA PAZIENZA!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r>
              <a:rPr lang="it-IT" dirty="0"/>
              <a:t>Gabriele Del Giovine</a:t>
            </a:r>
            <a:br>
              <a:rPr lang="it-IT" dirty="0"/>
            </a:br>
            <a:r>
              <a:rPr lang="it-IT" sz="3100" dirty="0"/>
              <a:t>email: gabriele@gabrieledelgiovine.it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8360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1658</Words>
  <Application>Microsoft Office PowerPoint</Application>
  <PresentationFormat>Widescreen</PresentationFormat>
  <Paragraphs>124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Courier New</vt:lpstr>
      <vt:lpstr>Tema di Office</vt:lpstr>
      <vt:lpstr>L’altro modo di sviluppare applicazioni Web e Multidevice nel mondo .NET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Connettere le business applications all’AI. SEMPLICEMENTE https://wisej.ai/  Wisej.AI aggiunge funzioni di intelligenza artificiale alle applicazioni Wisej.NET senza dover scrivere codice complesso.  Funziona tramite un componente chiamato SmartHub, che collega i controlli dell’app a modelli AI, prompt e fonti dati.   Una volta aggiunto il componente nel designer, ogni controllo può usare l’AI per generare testo, rispondere all’utente, classificare dati o automatizzare azioni, il tutto integrato nativamente nell’interfaccia Wisej.NET.</vt:lpstr>
      <vt:lpstr>Connettere le business applications all’AI. SEMPLICEMENTE https://wisej.ai/ https://docs.wisej.com/ai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Passero.Framework</vt:lpstr>
      <vt:lpstr>I pilastri di Passero.Framework</vt:lpstr>
      <vt:lpstr>Presentazione standard di PowerPoint</vt:lpstr>
      <vt:lpstr>Ed ora passiamo al pratico…</vt:lpstr>
      <vt:lpstr>Demo codice:</vt:lpstr>
      <vt:lpstr>Materiale Demo</vt:lpstr>
      <vt:lpstr>Q &amp; A </vt:lpstr>
      <vt:lpstr>GRAZIE PER LA PAZIENZA!   Gabriele Del Giovine email: gabriele@gabrieledelgiovine.it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Del Giovine Titolare</dc:creator>
  <cp:lastModifiedBy>Gabriele Del Giovine Personale</cp:lastModifiedBy>
  <cp:revision>40</cp:revision>
  <dcterms:created xsi:type="dcterms:W3CDTF">2025-11-25T07:19:38Z</dcterms:created>
  <dcterms:modified xsi:type="dcterms:W3CDTF">2025-11-28T14:49:54Z</dcterms:modified>
</cp:coreProperties>
</file>